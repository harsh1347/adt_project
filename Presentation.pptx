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6" r:id="rId4"/>
  </p:sldMasterIdLst>
  <p:notesMasterIdLst>
    <p:notesMasterId r:id="rId25"/>
  </p:notesMasterIdLst>
  <p:sldIdLst>
    <p:sldId id="256" r:id="rId5"/>
    <p:sldId id="312" r:id="rId6"/>
    <p:sldId id="335" r:id="rId7"/>
    <p:sldId id="343" r:id="rId8"/>
    <p:sldId id="342" r:id="rId9"/>
    <p:sldId id="344" r:id="rId10"/>
    <p:sldId id="346" r:id="rId11"/>
    <p:sldId id="345" r:id="rId12"/>
    <p:sldId id="347" r:id="rId13"/>
    <p:sldId id="348" r:id="rId14"/>
    <p:sldId id="349" r:id="rId15"/>
    <p:sldId id="350" r:id="rId16"/>
    <p:sldId id="341" r:id="rId17"/>
    <p:sldId id="351" r:id="rId18"/>
    <p:sldId id="354" r:id="rId19"/>
    <p:sldId id="352" r:id="rId20"/>
    <p:sldId id="353" r:id="rId21"/>
    <p:sldId id="340" r:id="rId22"/>
    <p:sldId id="317" r:id="rId23"/>
    <p:sldId id="300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2xPawhXzwqbC50kcvXrnvo2nq+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ag, Kelsey L." initials="KKL" lastIdx="10" clrIdx="0">
    <p:extLst>
      <p:ext uri="{19B8F6BF-5375-455C-9EA6-DF929625EA0E}">
        <p15:presenceInfo xmlns:p15="http://schemas.microsoft.com/office/powerpoint/2012/main" userId="S::kkeag@iu.edu::5f2d98e0-cebe-49ce-892e-b7a062d3a0bb" providerId="AD"/>
      </p:ext>
    </p:extLst>
  </p:cmAuthor>
  <p:cmAuthor id="2" name="Millunchick, Joanna M." initials="MM" lastIdx="19" clrIdx="1">
    <p:extLst>
      <p:ext uri="{19B8F6BF-5375-455C-9EA6-DF929625EA0E}">
        <p15:presenceInfo xmlns:p15="http://schemas.microsoft.com/office/powerpoint/2012/main" userId="S::jmillunc@iu.edu::0d93faba-826a-4602-851f-ef87214e319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1C1"/>
    <a:srgbClr val="F7EFE7"/>
    <a:srgbClr val="F4EDE5"/>
    <a:srgbClr val="FF3131"/>
    <a:srgbClr val="F6C6C6"/>
    <a:srgbClr val="990000"/>
    <a:srgbClr val="C8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5"/>
  </p:normalViewPr>
  <p:slideViewPr>
    <p:cSldViewPr snapToGrid="0">
      <p:cViewPr varScale="1">
        <p:scale>
          <a:sx n="92" d="100"/>
          <a:sy n="92" d="100"/>
        </p:scale>
        <p:origin x="466" y="293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41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40" Type="http://customschemas.google.com/relationships/presentationmetadata" Target="meta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7599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body" idx="1"/>
          </p:nvPr>
        </p:nvSpPr>
        <p:spPr>
          <a:xfrm>
            <a:off x="628650" y="1370013"/>
            <a:ext cx="7886700" cy="289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9"/>
          <p:cNvSpPr/>
          <p:nvPr/>
        </p:nvSpPr>
        <p:spPr>
          <a:xfrm>
            <a:off x="0" y="4418044"/>
            <a:ext cx="9144000" cy="72542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2968" y="4553801"/>
            <a:ext cx="6721887" cy="453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20"/>
          <p:cNvSpPr/>
          <p:nvPr/>
        </p:nvSpPr>
        <p:spPr>
          <a:xfrm>
            <a:off x="0" y="4418044"/>
            <a:ext cx="9144000" cy="72542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2968" y="4553801"/>
            <a:ext cx="6721887" cy="453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21"/>
          <p:cNvSpPr/>
          <p:nvPr/>
        </p:nvSpPr>
        <p:spPr>
          <a:xfrm>
            <a:off x="0" y="4418044"/>
            <a:ext cx="9144000" cy="72542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2968" y="4553801"/>
            <a:ext cx="6721888" cy="453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2"/>
          <p:cNvSpPr/>
          <p:nvPr/>
        </p:nvSpPr>
        <p:spPr>
          <a:xfrm>
            <a:off x="0" y="4418044"/>
            <a:ext cx="9144000" cy="72542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2968" y="4553801"/>
            <a:ext cx="6721888" cy="453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23"/>
          <p:cNvSpPr/>
          <p:nvPr/>
        </p:nvSpPr>
        <p:spPr>
          <a:xfrm>
            <a:off x="0" y="4418044"/>
            <a:ext cx="9144000" cy="72542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2968" y="4553801"/>
            <a:ext cx="6721888" cy="453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24"/>
          <p:cNvSpPr/>
          <p:nvPr/>
        </p:nvSpPr>
        <p:spPr>
          <a:xfrm>
            <a:off x="0" y="4418044"/>
            <a:ext cx="9144000" cy="72542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2968" y="4553801"/>
            <a:ext cx="6721888" cy="453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628650" y="1370013"/>
            <a:ext cx="7886700" cy="289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8.svg"/><Relationship Id="rId7" Type="http://schemas.openxmlformats.org/officeDocument/2006/relationships/image" Target="../media/image2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34.svg"/><Relationship Id="rId5" Type="http://schemas.openxmlformats.org/officeDocument/2006/relationships/image" Target="../media/image30.sv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0718-1876/20/2/115" TargetMode="External"/><Relationship Id="rId2" Type="http://schemas.openxmlformats.org/officeDocument/2006/relationships/hyperlink" Target="https://doi.org/10.1177/14614448241304106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387180" y="0"/>
            <a:ext cx="950913" cy="276701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" descr="trident.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933" y="1571742"/>
            <a:ext cx="634683" cy="8008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"/>
          <p:cNvSpPr txBox="1"/>
          <p:nvPr/>
        </p:nvSpPr>
        <p:spPr>
          <a:xfrm>
            <a:off x="1338093" y="2372618"/>
            <a:ext cx="7805906" cy="1555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Data-Driven Analysis of Cross-Market Trend Transmission Between US and India</a:t>
            </a:r>
            <a:endParaRPr lang="en-US" sz="2400" b="1" dirty="0">
              <a:solidFill>
                <a:srgbClr val="99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sz="2400" dirty="0">
              <a:solidFill>
                <a:srgbClr val="99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rgbClr val="99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Harsh Gupta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99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AEBAE8-E22A-FB27-91CA-A3485DA7D000}"/>
              </a:ext>
            </a:extLst>
          </p:cNvPr>
          <p:cNvSpPr/>
          <p:nvPr/>
        </p:nvSpPr>
        <p:spPr>
          <a:xfrm>
            <a:off x="1338092" y="1571742"/>
            <a:ext cx="780590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99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Global Trend Diffusion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D825-1199-87AD-2064-6EDC34AE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74862"/>
            <a:ext cx="9144000" cy="993775"/>
          </a:xfrm>
        </p:spPr>
        <p:txBody>
          <a:bodyPr/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Introduction</a:t>
            </a:r>
            <a:endParaRPr lang="en-US" sz="4000" i="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1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89C64A-AF89-8205-E106-7B78ACA0F7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85" b="10685"/>
          <a:stretch/>
        </p:blipFill>
        <p:spPr>
          <a:xfrm>
            <a:off x="440505" y="2413699"/>
            <a:ext cx="3729298" cy="1910892"/>
          </a:xfrm>
          <a:prstGeom prst="rect">
            <a:avLst/>
          </a:prstGeom>
        </p:spPr>
      </p:pic>
      <p:pic>
        <p:nvPicPr>
          <p:cNvPr id="9" name="Picture 8" descr="A group of social media icons&#10;&#10;AI-generated content may be incorrect.">
            <a:extLst>
              <a:ext uri="{FF2B5EF4-FFF2-40B4-BE49-F238E27FC236}">
                <a16:creationId xmlns:a16="http://schemas.microsoft.com/office/drawing/2014/main" id="{5B35A599-596E-082D-4C89-F974FBE12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789" y="972864"/>
            <a:ext cx="2690984" cy="215278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6183BC-20A1-0624-6CA0-1535ADDEEA9A}"/>
              </a:ext>
            </a:extLst>
          </p:cNvPr>
          <p:cNvSpPr/>
          <p:nvPr/>
        </p:nvSpPr>
        <p:spPr>
          <a:xfrm>
            <a:off x="77927" y="199820"/>
            <a:ext cx="8982944" cy="735676"/>
          </a:xfrm>
          <a:prstGeom prst="round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944D50-D08D-C6F1-AA20-36F76E6DC416}"/>
              </a:ext>
            </a:extLst>
          </p:cNvPr>
          <p:cNvSpPr txBox="1"/>
          <p:nvPr/>
        </p:nvSpPr>
        <p:spPr>
          <a:xfrm>
            <a:off x="77927" y="189619"/>
            <a:ext cx="8982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What is Global Trend Diffusion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32B642-E44A-2C1A-B4F9-69994EC7D0AF}"/>
              </a:ext>
            </a:extLst>
          </p:cNvPr>
          <p:cNvSpPr txBox="1"/>
          <p:nvPr/>
        </p:nvSpPr>
        <p:spPr>
          <a:xfrm>
            <a:off x="77927" y="540539"/>
            <a:ext cx="8982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Global Trend Diffusion describes how ideas, products, and viral moments travel from one market to another.</a:t>
            </a:r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492742-066F-1F92-0E3D-6F0DC370B453}"/>
              </a:ext>
            </a:extLst>
          </p:cNvPr>
          <p:cNvGrpSpPr/>
          <p:nvPr/>
        </p:nvGrpSpPr>
        <p:grpSpPr>
          <a:xfrm>
            <a:off x="141832" y="1162327"/>
            <a:ext cx="4427569" cy="1156794"/>
            <a:chOff x="77929" y="940020"/>
            <a:chExt cx="2610197" cy="225274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48A216C-18A3-4251-C55D-D5FFFD155CD7}"/>
                </a:ext>
              </a:extLst>
            </p:cNvPr>
            <p:cNvSpPr/>
            <p:nvPr/>
          </p:nvSpPr>
          <p:spPr>
            <a:xfrm>
              <a:off x="77929" y="940020"/>
              <a:ext cx="2610197" cy="2252749"/>
            </a:xfrm>
            <a:prstGeom prst="roundRect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0CF3C9-7C13-42C6-55FF-C0371575B5E6}"/>
                </a:ext>
              </a:extLst>
            </p:cNvPr>
            <p:cNvSpPr txBox="1"/>
            <p:nvPr/>
          </p:nvSpPr>
          <p:spPr>
            <a:xfrm>
              <a:off x="77929" y="1127641"/>
              <a:ext cx="2610196" cy="16233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Trend diffusion always existed but it used to be slow.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Example: Tea took </a:t>
              </a:r>
              <a:r>
                <a:rPr lang="en-US" i="1" dirty="0">
                  <a:solidFill>
                    <a:schemeClr val="bg1"/>
                  </a:solidFill>
                </a:rPr>
                <a:t>centuries</a:t>
              </a:r>
              <a:r>
                <a:rPr lang="en-US" dirty="0">
                  <a:solidFill>
                    <a:schemeClr val="bg1"/>
                  </a:solidFill>
                </a:rPr>
                <a:t> to spread across cultures.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522562-E0ED-194B-E07E-720B487624CC}"/>
              </a:ext>
            </a:extLst>
          </p:cNvPr>
          <p:cNvGrpSpPr/>
          <p:nvPr/>
        </p:nvGrpSpPr>
        <p:grpSpPr>
          <a:xfrm>
            <a:off x="4638496" y="3258589"/>
            <a:ext cx="4427574" cy="1066002"/>
            <a:chOff x="6455874" y="975873"/>
            <a:chExt cx="2610200" cy="225274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152B448-D328-8331-5098-CDEA6F40D28C}"/>
                </a:ext>
              </a:extLst>
            </p:cNvPr>
            <p:cNvSpPr/>
            <p:nvPr/>
          </p:nvSpPr>
          <p:spPr>
            <a:xfrm>
              <a:off x="6455877" y="975873"/>
              <a:ext cx="2610197" cy="2252749"/>
            </a:xfrm>
            <a:prstGeom prst="roundRect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B38295-1656-1227-98C2-2DEA7B44C9D9}"/>
                </a:ext>
              </a:extLst>
            </p:cNvPr>
            <p:cNvSpPr txBox="1"/>
            <p:nvPr/>
          </p:nvSpPr>
          <p:spPr>
            <a:xfrm>
              <a:off x="6455874" y="1209508"/>
              <a:ext cx="2610197" cy="2016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Today, social media accelerates diffusion to days or weeks.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dirty="0">
                  <a:solidFill>
                    <a:schemeClr val="bg1"/>
                  </a:solidFill>
                </a:rPr>
                <a:t>Dalgona Coffee went from a Korean video to a global trend in days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3182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DFEAD-7FF7-32A2-99C1-8FAF1FB43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F187-90C8-19DD-D963-B67E0B7E8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74862"/>
            <a:ext cx="9144000" cy="993775"/>
          </a:xfrm>
        </p:spPr>
        <p:txBody>
          <a:bodyPr/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Why This Matters</a:t>
            </a:r>
            <a:endParaRPr lang="en-US" sz="4000" i="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6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C6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3F62E-126D-CCCC-BF2F-3698386D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4C38CFC-BDE1-E3D7-5CD3-8C553735ED06}"/>
              </a:ext>
            </a:extLst>
          </p:cNvPr>
          <p:cNvSpPr/>
          <p:nvPr/>
        </p:nvSpPr>
        <p:spPr>
          <a:xfrm>
            <a:off x="3505802" y="1130538"/>
            <a:ext cx="1032954" cy="1030773"/>
          </a:xfrm>
          <a:custGeom>
            <a:avLst/>
            <a:gdLst>
              <a:gd name="csX0" fmla="*/ 1032954 w 1032954"/>
              <a:gd name="csY0" fmla="*/ 0 h 1030773"/>
              <a:gd name="csX1" fmla="*/ 1032954 w 1032954"/>
              <a:gd name="csY1" fmla="*/ 715032 h 1030773"/>
              <a:gd name="csX2" fmla="*/ 722464 w 1032954"/>
              <a:gd name="csY2" fmla="*/ 1030773 h 1030773"/>
              <a:gd name="csX3" fmla="*/ 0 w 1032954"/>
              <a:gd name="csY3" fmla="*/ 1030773 h 1030773"/>
              <a:gd name="csX4" fmla="*/ 3700 w 1032954"/>
              <a:gd name="csY4" fmla="*/ 959432 h 1030773"/>
              <a:gd name="csX5" fmla="*/ 986834 w 1032954"/>
              <a:gd name="csY5" fmla="*/ 2267 h 1030773"/>
              <a:gd name="csX6" fmla="*/ 1032954 w 1032954"/>
              <a:gd name="csY6" fmla="*/ 0 h 1030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2954" h="1030773">
                <a:moveTo>
                  <a:pt x="1032954" y="0"/>
                </a:moveTo>
                <a:lnTo>
                  <a:pt x="1032954" y="715032"/>
                </a:lnTo>
                <a:cubicBezTo>
                  <a:pt x="1032954" y="889411"/>
                  <a:pt x="893943" y="1030773"/>
                  <a:pt x="722464" y="1030773"/>
                </a:cubicBezTo>
                <a:lnTo>
                  <a:pt x="0" y="1030773"/>
                </a:lnTo>
                <a:lnTo>
                  <a:pt x="3700" y="959432"/>
                </a:lnTo>
                <a:cubicBezTo>
                  <a:pt x="56344" y="454746"/>
                  <a:pt x="468455" y="53521"/>
                  <a:pt x="986834" y="2267"/>
                </a:cubicBezTo>
                <a:lnTo>
                  <a:pt x="1032954" y="0"/>
                </a:lnTo>
                <a:close/>
              </a:path>
            </a:pathLst>
          </a:custGeom>
          <a:solidFill>
            <a:srgbClr val="C80000"/>
          </a:solidFill>
          <a:ln w="12700">
            <a:solidFill>
              <a:srgbClr val="F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F19A060-AC44-D7EF-70CE-914992BED2EF}"/>
              </a:ext>
            </a:extLst>
          </p:cNvPr>
          <p:cNvSpPr/>
          <p:nvPr/>
        </p:nvSpPr>
        <p:spPr>
          <a:xfrm>
            <a:off x="4671749" y="1130538"/>
            <a:ext cx="1032953" cy="1030773"/>
          </a:xfrm>
          <a:custGeom>
            <a:avLst/>
            <a:gdLst>
              <a:gd name="csX0" fmla="*/ 0 w 1032953"/>
              <a:gd name="csY0" fmla="*/ 0 h 1030773"/>
              <a:gd name="csX1" fmla="*/ 46118 w 1032953"/>
              <a:gd name="csY1" fmla="*/ 2267 h 1030773"/>
              <a:gd name="csX2" fmla="*/ 1029252 w 1032953"/>
              <a:gd name="csY2" fmla="*/ 959432 h 1030773"/>
              <a:gd name="csX3" fmla="*/ 1032953 w 1032953"/>
              <a:gd name="csY3" fmla="*/ 1030773 h 1030773"/>
              <a:gd name="csX4" fmla="*/ 315741 w 1032953"/>
              <a:gd name="csY4" fmla="*/ 1030773 h 1030773"/>
              <a:gd name="csX5" fmla="*/ 0 w 1032953"/>
              <a:gd name="csY5" fmla="*/ 715032 h 1030773"/>
              <a:gd name="csX6" fmla="*/ 0 w 1032953"/>
              <a:gd name="csY6" fmla="*/ 0 h 1030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2953" h="1030773">
                <a:moveTo>
                  <a:pt x="0" y="0"/>
                </a:moveTo>
                <a:lnTo>
                  <a:pt x="46118" y="2267"/>
                </a:lnTo>
                <a:cubicBezTo>
                  <a:pt x="564497" y="53521"/>
                  <a:pt x="976608" y="454746"/>
                  <a:pt x="1029252" y="959432"/>
                </a:cubicBezTo>
                <a:lnTo>
                  <a:pt x="1032953" y="1030773"/>
                </a:lnTo>
                <a:lnTo>
                  <a:pt x="315741" y="1030773"/>
                </a:lnTo>
                <a:cubicBezTo>
                  <a:pt x="141362" y="1030773"/>
                  <a:pt x="0" y="889411"/>
                  <a:pt x="0" y="715032"/>
                </a:cubicBezTo>
                <a:lnTo>
                  <a:pt x="0" y="0"/>
                </a:lnTo>
                <a:close/>
              </a:path>
            </a:pathLst>
          </a:custGeom>
          <a:solidFill>
            <a:srgbClr val="FF3131"/>
          </a:solidFill>
          <a:ln w="12700">
            <a:solidFill>
              <a:srgbClr val="FBC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48469C0-68C3-BAEE-64B8-BC3878DE6BBB}"/>
              </a:ext>
            </a:extLst>
          </p:cNvPr>
          <p:cNvSpPr/>
          <p:nvPr/>
        </p:nvSpPr>
        <p:spPr>
          <a:xfrm>
            <a:off x="3505803" y="2279476"/>
            <a:ext cx="1032951" cy="1030773"/>
          </a:xfrm>
          <a:custGeom>
            <a:avLst/>
            <a:gdLst>
              <a:gd name="csX0" fmla="*/ 0 w 1032951"/>
              <a:gd name="csY0" fmla="*/ 0 h 1030773"/>
              <a:gd name="csX1" fmla="*/ 722461 w 1032951"/>
              <a:gd name="csY1" fmla="*/ 0 h 1030773"/>
              <a:gd name="csX2" fmla="*/ 1032951 w 1032951"/>
              <a:gd name="csY2" fmla="*/ 315741 h 1030773"/>
              <a:gd name="csX3" fmla="*/ 1032951 w 1032951"/>
              <a:gd name="csY3" fmla="*/ 1030773 h 1030773"/>
              <a:gd name="csX4" fmla="*/ 986834 w 1032951"/>
              <a:gd name="csY4" fmla="*/ 1028506 h 1030773"/>
              <a:gd name="csX5" fmla="*/ 3700 w 1032951"/>
              <a:gd name="csY5" fmla="*/ 71341 h 1030773"/>
              <a:gd name="csX6" fmla="*/ 0 w 1032951"/>
              <a:gd name="csY6" fmla="*/ 0 h 1030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2951" h="1030773">
                <a:moveTo>
                  <a:pt x="0" y="0"/>
                </a:moveTo>
                <a:lnTo>
                  <a:pt x="722461" y="0"/>
                </a:lnTo>
                <a:cubicBezTo>
                  <a:pt x="893940" y="0"/>
                  <a:pt x="1032951" y="141362"/>
                  <a:pt x="1032951" y="315741"/>
                </a:cubicBezTo>
                <a:lnTo>
                  <a:pt x="1032951" y="1030773"/>
                </a:lnTo>
                <a:lnTo>
                  <a:pt x="986834" y="1028506"/>
                </a:lnTo>
                <a:cubicBezTo>
                  <a:pt x="468455" y="977252"/>
                  <a:pt x="56344" y="576027"/>
                  <a:pt x="3700" y="71341"/>
                </a:cubicBezTo>
                <a:lnTo>
                  <a:pt x="0" y="0"/>
                </a:lnTo>
                <a:close/>
              </a:path>
            </a:pathLst>
          </a:custGeom>
          <a:solidFill>
            <a:srgbClr val="FF3131"/>
          </a:solidFill>
          <a:ln w="12700">
            <a:solidFill>
              <a:srgbClr val="FBC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7106819-78C4-8D71-C98D-E11A8C904037}"/>
              </a:ext>
            </a:extLst>
          </p:cNvPr>
          <p:cNvSpPr/>
          <p:nvPr/>
        </p:nvSpPr>
        <p:spPr>
          <a:xfrm>
            <a:off x="4671749" y="2279476"/>
            <a:ext cx="1032953" cy="1030773"/>
          </a:xfrm>
          <a:custGeom>
            <a:avLst/>
            <a:gdLst>
              <a:gd name="csX0" fmla="*/ 315741 w 1032953"/>
              <a:gd name="csY0" fmla="*/ 0 h 1030773"/>
              <a:gd name="csX1" fmla="*/ 1032953 w 1032953"/>
              <a:gd name="csY1" fmla="*/ 0 h 1030773"/>
              <a:gd name="csX2" fmla="*/ 1029252 w 1032953"/>
              <a:gd name="csY2" fmla="*/ 71341 h 1030773"/>
              <a:gd name="csX3" fmla="*/ 46118 w 1032953"/>
              <a:gd name="csY3" fmla="*/ 1028506 h 1030773"/>
              <a:gd name="csX4" fmla="*/ 0 w 1032953"/>
              <a:gd name="csY4" fmla="*/ 1030773 h 1030773"/>
              <a:gd name="csX5" fmla="*/ 0 w 1032953"/>
              <a:gd name="csY5" fmla="*/ 315741 h 1030773"/>
              <a:gd name="csX6" fmla="*/ 315741 w 1032953"/>
              <a:gd name="csY6" fmla="*/ 0 h 1030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2953" h="1030773">
                <a:moveTo>
                  <a:pt x="315741" y="0"/>
                </a:moveTo>
                <a:lnTo>
                  <a:pt x="1032953" y="0"/>
                </a:lnTo>
                <a:lnTo>
                  <a:pt x="1029252" y="71341"/>
                </a:lnTo>
                <a:cubicBezTo>
                  <a:pt x="976608" y="576027"/>
                  <a:pt x="564497" y="977252"/>
                  <a:pt x="46118" y="1028506"/>
                </a:cubicBezTo>
                <a:lnTo>
                  <a:pt x="0" y="1030773"/>
                </a:lnTo>
                <a:lnTo>
                  <a:pt x="0" y="315741"/>
                </a:lnTo>
                <a:cubicBezTo>
                  <a:pt x="0" y="141362"/>
                  <a:pt x="141362" y="0"/>
                  <a:pt x="315741" y="0"/>
                </a:cubicBezTo>
                <a:close/>
              </a:path>
            </a:pathLst>
          </a:custGeom>
          <a:solidFill>
            <a:srgbClr val="C80000"/>
          </a:solidFill>
          <a:ln w="12700">
            <a:solidFill>
              <a:srgbClr val="F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E083354-ADE9-B521-452F-6F6BE604C22F}"/>
              </a:ext>
            </a:extLst>
          </p:cNvPr>
          <p:cNvSpPr/>
          <p:nvPr/>
        </p:nvSpPr>
        <p:spPr>
          <a:xfrm>
            <a:off x="606832" y="266902"/>
            <a:ext cx="3931924" cy="1894409"/>
          </a:xfrm>
          <a:custGeom>
            <a:avLst/>
            <a:gdLst>
              <a:gd name="csX0" fmla="*/ 310490 w 3931924"/>
              <a:gd name="csY0" fmla="*/ 0 h 1894409"/>
              <a:gd name="csX1" fmla="*/ 3621434 w 3931924"/>
              <a:gd name="csY1" fmla="*/ 0 h 1894409"/>
              <a:gd name="csX2" fmla="*/ 3931924 w 3931924"/>
              <a:gd name="csY2" fmla="*/ 315741 h 1894409"/>
              <a:gd name="csX3" fmla="*/ 3931924 w 3931924"/>
              <a:gd name="csY3" fmla="*/ 863636 h 1894409"/>
              <a:gd name="csX4" fmla="*/ 3885804 w 3931924"/>
              <a:gd name="csY4" fmla="*/ 865903 h 1894409"/>
              <a:gd name="csX5" fmla="*/ 2902670 w 3931924"/>
              <a:gd name="csY5" fmla="*/ 1823068 h 1894409"/>
              <a:gd name="csX6" fmla="*/ 2898970 w 3931924"/>
              <a:gd name="csY6" fmla="*/ 1894409 h 1894409"/>
              <a:gd name="csX7" fmla="*/ 310490 w 3931924"/>
              <a:gd name="csY7" fmla="*/ 1894409 h 1894409"/>
              <a:gd name="csX8" fmla="*/ 0 w 3931924"/>
              <a:gd name="csY8" fmla="*/ 1578668 h 1894409"/>
              <a:gd name="csX9" fmla="*/ 0 w 3931924"/>
              <a:gd name="csY9" fmla="*/ 315741 h 1894409"/>
              <a:gd name="csX10" fmla="*/ 310490 w 3931924"/>
              <a:gd name="csY10" fmla="*/ 0 h 1894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931924" h="1894409">
                <a:moveTo>
                  <a:pt x="310490" y="0"/>
                </a:moveTo>
                <a:lnTo>
                  <a:pt x="3621434" y="0"/>
                </a:lnTo>
                <a:cubicBezTo>
                  <a:pt x="3792913" y="0"/>
                  <a:pt x="3931924" y="141362"/>
                  <a:pt x="3931924" y="315741"/>
                </a:cubicBezTo>
                <a:lnTo>
                  <a:pt x="3931924" y="863636"/>
                </a:lnTo>
                <a:lnTo>
                  <a:pt x="3885804" y="865903"/>
                </a:lnTo>
                <a:cubicBezTo>
                  <a:pt x="3367425" y="917157"/>
                  <a:pt x="2955314" y="1318382"/>
                  <a:pt x="2902670" y="1823068"/>
                </a:cubicBezTo>
                <a:lnTo>
                  <a:pt x="2898970" y="1894409"/>
                </a:lnTo>
                <a:lnTo>
                  <a:pt x="310490" y="1894409"/>
                </a:lnTo>
                <a:cubicBezTo>
                  <a:pt x="139011" y="1894409"/>
                  <a:pt x="0" y="1753047"/>
                  <a:pt x="0" y="1578668"/>
                </a:cubicBezTo>
                <a:lnTo>
                  <a:pt x="0" y="315741"/>
                </a:lnTo>
                <a:cubicBezTo>
                  <a:pt x="0" y="141362"/>
                  <a:pt x="139011" y="0"/>
                  <a:pt x="310490" y="0"/>
                </a:cubicBezTo>
                <a:close/>
              </a:path>
            </a:pathLst>
          </a:custGeom>
          <a:solidFill>
            <a:srgbClr val="990000"/>
          </a:solidFill>
          <a:ln w="19050">
            <a:solidFill>
              <a:srgbClr val="FBC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en-IN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955CACA-9399-DCEA-3EFB-C569FC958B62}"/>
              </a:ext>
            </a:extLst>
          </p:cNvPr>
          <p:cNvSpPr/>
          <p:nvPr/>
        </p:nvSpPr>
        <p:spPr>
          <a:xfrm>
            <a:off x="4671748" y="266902"/>
            <a:ext cx="3931927" cy="1894409"/>
          </a:xfrm>
          <a:custGeom>
            <a:avLst/>
            <a:gdLst>
              <a:gd name="csX0" fmla="*/ 315741 w 3931927"/>
              <a:gd name="csY0" fmla="*/ 0 h 1894409"/>
              <a:gd name="csX1" fmla="*/ 3616186 w 3931927"/>
              <a:gd name="csY1" fmla="*/ 0 h 1894409"/>
              <a:gd name="csX2" fmla="*/ 3931927 w 3931927"/>
              <a:gd name="csY2" fmla="*/ 315741 h 1894409"/>
              <a:gd name="csX3" fmla="*/ 3931927 w 3931927"/>
              <a:gd name="csY3" fmla="*/ 1578668 h 1894409"/>
              <a:gd name="csX4" fmla="*/ 3616186 w 3931927"/>
              <a:gd name="csY4" fmla="*/ 1894409 h 1894409"/>
              <a:gd name="csX5" fmla="*/ 1032953 w 3931927"/>
              <a:gd name="csY5" fmla="*/ 1894409 h 1894409"/>
              <a:gd name="csX6" fmla="*/ 1029252 w 3931927"/>
              <a:gd name="csY6" fmla="*/ 1823068 h 1894409"/>
              <a:gd name="csX7" fmla="*/ 46118 w 3931927"/>
              <a:gd name="csY7" fmla="*/ 865903 h 1894409"/>
              <a:gd name="csX8" fmla="*/ 0 w 3931927"/>
              <a:gd name="csY8" fmla="*/ 863636 h 1894409"/>
              <a:gd name="csX9" fmla="*/ 0 w 3931927"/>
              <a:gd name="csY9" fmla="*/ 315741 h 1894409"/>
              <a:gd name="csX10" fmla="*/ 315741 w 3931927"/>
              <a:gd name="csY10" fmla="*/ 0 h 1894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931927" h="1894409">
                <a:moveTo>
                  <a:pt x="315741" y="0"/>
                </a:moveTo>
                <a:lnTo>
                  <a:pt x="3616186" y="0"/>
                </a:lnTo>
                <a:cubicBezTo>
                  <a:pt x="3790565" y="0"/>
                  <a:pt x="3931927" y="141362"/>
                  <a:pt x="3931927" y="315741"/>
                </a:cubicBezTo>
                <a:lnTo>
                  <a:pt x="3931927" y="1578668"/>
                </a:lnTo>
                <a:cubicBezTo>
                  <a:pt x="3931927" y="1753047"/>
                  <a:pt x="3790565" y="1894409"/>
                  <a:pt x="3616186" y="1894409"/>
                </a:cubicBezTo>
                <a:lnTo>
                  <a:pt x="1032953" y="1894409"/>
                </a:lnTo>
                <a:lnTo>
                  <a:pt x="1029252" y="1823068"/>
                </a:lnTo>
                <a:cubicBezTo>
                  <a:pt x="976608" y="1318382"/>
                  <a:pt x="564497" y="917157"/>
                  <a:pt x="46118" y="865903"/>
                </a:cubicBezTo>
                <a:lnTo>
                  <a:pt x="0" y="863636"/>
                </a:lnTo>
                <a:lnTo>
                  <a:pt x="0" y="315741"/>
                </a:lnTo>
                <a:cubicBezTo>
                  <a:pt x="0" y="141362"/>
                  <a:pt x="141362" y="0"/>
                  <a:pt x="315741" y="0"/>
                </a:cubicBezTo>
                <a:close/>
              </a:path>
            </a:pathLst>
          </a:custGeom>
          <a:solidFill>
            <a:srgbClr val="990000"/>
          </a:solidFill>
          <a:ln w="19050">
            <a:solidFill>
              <a:srgbClr val="FBC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BA272E6-D751-A28B-BD5C-4165F6B533C8}"/>
              </a:ext>
            </a:extLst>
          </p:cNvPr>
          <p:cNvSpPr/>
          <p:nvPr/>
        </p:nvSpPr>
        <p:spPr>
          <a:xfrm>
            <a:off x="606829" y="2279476"/>
            <a:ext cx="3931924" cy="1894409"/>
          </a:xfrm>
          <a:custGeom>
            <a:avLst/>
            <a:gdLst>
              <a:gd name="csX0" fmla="*/ 310490 w 3931924"/>
              <a:gd name="csY0" fmla="*/ 0 h 1894409"/>
              <a:gd name="csX1" fmla="*/ 2898973 w 3931924"/>
              <a:gd name="csY1" fmla="*/ 0 h 1894409"/>
              <a:gd name="csX2" fmla="*/ 2902673 w 3931924"/>
              <a:gd name="csY2" fmla="*/ 71341 h 1894409"/>
              <a:gd name="csX3" fmla="*/ 3885807 w 3931924"/>
              <a:gd name="csY3" fmla="*/ 1028506 h 1894409"/>
              <a:gd name="csX4" fmla="*/ 3931924 w 3931924"/>
              <a:gd name="csY4" fmla="*/ 1030773 h 1894409"/>
              <a:gd name="csX5" fmla="*/ 3931924 w 3931924"/>
              <a:gd name="csY5" fmla="*/ 1578668 h 1894409"/>
              <a:gd name="csX6" fmla="*/ 3621434 w 3931924"/>
              <a:gd name="csY6" fmla="*/ 1894409 h 1894409"/>
              <a:gd name="csX7" fmla="*/ 310490 w 3931924"/>
              <a:gd name="csY7" fmla="*/ 1894409 h 1894409"/>
              <a:gd name="csX8" fmla="*/ 0 w 3931924"/>
              <a:gd name="csY8" fmla="*/ 1578668 h 1894409"/>
              <a:gd name="csX9" fmla="*/ 0 w 3931924"/>
              <a:gd name="csY9" fmla="*/ 315741 h 1894409"/>
              <a:gd name="csX10" fmla="*/ 310490 w 3931924"/>
              <a:gd name="csY10" fmla="*/ 0 h 1894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931924" h="1894409">
                <a:moveTo>
                  <a:pt x="310490" y="0"/>
                </a:moveTo>
                <a:lnTo>
                  <a:pt x="2898973" y="0"/>
                </a:lnTo>
                <a:lnTo>
                  <a:pt x="2902673" y="71341"/>
                </a:lnTo>
                <a:cubicBezTo>
                  <a:pt x="2955317" y="576027"/>
                  <a:pt x="3367428" y="977252"/>
                  <a:pt x="3885807" y="1028506"/>
                </a:cubicBezTo>
                <a:lnTo>
                  <a:pt x="3931924" y="1030773"/>
                </a:lnTo>
                <a:lnTo>
                  <a:pt x="3931924" y="1578668"/>
                </a:lnTo>
                <a:cubicBezTo>
                  <a:pt x="3931924" y="1753047"/>
                  <a:pt x="3792913" y="1894409"/>
                  <a:pt x="3621434" y="1894409"/>
                </a:cubicBezTo>
                <a:lnTo>
                  <a:pt x="310490" y="1894409"/>
                </a:lnTo>
                <a:cubicBezTo>
                  <a:pt x="139011" y="1894409"/>
                  <a:pt x="0" y="1753047"/>
                  <a:pt x="0" y="1578668"/>
                </a:cubicBezTo>
                <a:lnTo>
                  <a:pt x="0" y="315741"/>
                </a:lnTo>
                <a:cubicBezTo>
                  <a:pt x="0" y="141362"/>
                  <a:pt x="139011" y="0"/>
                  <a:pt x="310490" y="0"/>
                </a:cubicBezTo>
                <a:close/>
              </a:path>
            </a:pathLst>
          </a:custGeom>
          <a:solidFill>
            <a:srgbClr val="990000"/>
          </a:solidFill>
          <a:ln w="19050">
            <a:solidFill>
              <a:srgbClr val="FBC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2BF1B900-A453-5B96-F7B5-A7C195B23DA2}"/>
              </a:ext>
            </a:extLst>
          </p:cNvPr>
          <p:cNvSpPr/>
          <p:nvPr/>
        </p:nvSpPr>
        <p:spPr>
          <a:xfrm>
            <a:off x="4671748" y="2279475"/>
            <a:ext cx="3931924" cy="1894410"/>
          </a:xfrm>
          <a:custGeom>
            <a:avLst/>
            <a:gdLst>
              <a:gd name="csX0" fmla="*/ 1032953 w 3931924"/>
              <a:gd name="csY0" fmla="*/ 0 h 1894410"/>
              <a:gd name="csX1" fmla="*/ 3616183 w 3931924"/>
              <a:gd name="csY1" fmla="*/ 0 h 1894410"/>
              <a:gd name="csX2" fmla="*/ 3931924 w 3931924"/>
              <a:gd name="csY2" fmla="*/ 315741 h 1894410"/>
              <a:gd name="csX3" fmla="*/ 3931924 w 3931924"/>
              <a:gd name="csY3" fmla="*/ 1578669 h 1894410"/>
              <a:gd name="csX4" fmla="*/ 3616183 w 3931924"/>
              <a:gd name="csY4" fmla="*/ 1894410 h 1894410"/>
              <a:gd name="csX5" fmla="*/ 315741 w 3931924"/>
              <a:gd name="csY5" fmla="*/ 1894410 h 1894410"/>
              <a:gd name="csX6" fmla="*/ 0 w 3931924"/>
              <a:gd name="csY6" fmla="*/ 1578669 h 1894410"/>
              <a:gd name="csX7" fmla="*/ 0 w 3931924"/>
              <a:gd name="csY7" fmla="*/ 1030773 h 1894410"/>
              <a:gd name="csX8" fmla="*/ 46118 w 3931924"/>
              <a:gd name="csY8" fmla="*/ 1028506 h 1894410"/>
              <a:gd name="csX9" fmla="*/ 1029252 w 3931924"/>
              <a:gd name="csY9" fmla="*/ 71341 h 1894410"/>
              <a:gd name="csX10" fmla="*/ 1032953 w 3931924"/>
              <a:gd name="csY10" fmla="*/ 0 h 1894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931924" h="1894410">
                <a:moveTo>
                  <a:pt x="1032953" y="0"/>
                </a:moveTo>
                <a:lnTo>
                  <a:pt x="3616183" y="0"/>
                </a:lnTo>
                <a:cubicBezTo>
                  <a:pt x="3790562" y="0"/>
                  <a:pt x="3931924" y="141362"/>
                  <a:pt x="3931924" y="315741"/>
                </a:cubicBezTo>
                <a:lnTo>
                  <a:pt x="3931924" y="1578669"/>
                </a:lnTo>
                <a:cubicBezTo>
                  <a:pt x="3931924" y="1753048"/>
                  <a:pt x="3790562" y="1894410"/>
                  <a:pt x="3616183" y="1894410"/>
                </a:cubicBezTo>
                <a:lnTo>
                  <a:pt x="315741" y="1894410"/>
                </a:lnTo>
                <a:cubicBezTo>
                  <a:pt x="141362" y="1894410"/>
                  <a:pt x="0" y="1753048"/>
                  <a:pt x="0" y="1578669"/>
                </a:cubicBezTo>
                <a:lnTo>
                  <a:pt x="0" y="1030773"/>
                </a:lnTo>
                <a:lnTo>
                  <a:pt x="46118" y="1028506"/>
                </a:lnTo>
                <a:cubicBezTo>
                  <a:pt x="564497" y="977252"/>
                  <a:pt x="976608" y="576027"/>
                  <a:pt x="1029252" y="71341"/>
                </a:cubicBezTo>
                <a:lnTo>
                  <a:pt x="1032953" y="0"/>
                </a:lnTo>
                <a:close/>
              </a:path>
            </a:pathLst>
          </a:custGeom>
          <a:solidFill>
            <a:srgbClr val="990000"/>
          </a:solidFill>
          <a:ln w="19050">
            <a:solidFill>
              <a:srgbClr val="F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315C3E-D2A4-38BA-CE71-00D3D6D3B1B7}"/>
              </a:ext>
            </a:extLst>
          </p:cNvPr>
          <p:cNvSpPr txBox="1"/>
          <p:nvPr/>
        </p:nvSpPr>
        <p:spPr>
          <a:xfrm>
            <a:off x="640076" y="844786"/>
            <a:ext cx="3931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Social media </a:t>
            </a:r>
            <a:r>
              <a:rPr lang="es-ES" dirty="0" err="1">
                <a:solidFill>
                  <a:schemeClr val="bg1"/>
                </a:solidFill>
              </a:rPr>
              <a:t>creates</a:t>
            </a:r>
            <a:r>
              <a:rPr lang="es-ES" dirty="0">
                <a:solidFill>
                  <a:schemeClr val="bg1"/>
                </a:solidFill>
              </a:rPr>
              <a:t> global </a:t>
            </a:r>
            <a:r>
              <a:rPr lang="es-ES" dirty="0" err="1">
                <a:solidFill>
                  <a:schemeClr val="bg1"/>
                </a:solidFill>
              </a:rPr>
              <a:t>demand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instantly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AB065C-F72C-9DC4-881A-5A8A0B1389A6}"/>
              </a:ext>
            </a:extLst>
          </p:cNvPr>
          <p:cNvSpPr txBox="1"/>
          <p:nvPr/>
        </p:nvSpPr>
        <p:spPr>
          <a:xfrm>
            <a:off x="606826" y="2739195"/>
            <a:ext cx="3106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India is a rapidly growing, trend-sensitive market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251E44-64A3-B8E0-0D48-27C99351E1BB}"/>
              </a:ext>
            </a:extLst>
          </p:cNvPr>
          <p:cNvSpPr txBox="1"/>
          <p:nvPr/>
        </p:nvSpPr>
        <p:spPr>
          <a:xfrm>
            <a:off x="4704992" y="844785"/>
            <a:ext cx="3931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Global hype triggers local product innovation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D302A6-8ED9-07E6-1169-82FDDC369061}"/>
              </a:ext>
            </a:extLst>
          </p:cNvPr>
          <p:cNvSpPr txBox="1"/>
          <p:nvPr/>
        </p:nvSpPr>
        <p:spPr>
          <a:xfrm>
            <a:off x="5489368" y="2660591"/>
            <a:ext cx="2898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Knowing diffusion timing improves brand strategy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358DBC-17FA-9DCA-B353-7B8726D3CCF5}"/>
              </a:ext>
            </a:extLst>
          </p:cNvPr>
          <p:cNvSpPr txBox="1"/>
          <p:nvPr/>
        </p:nvSpPr>
        <p:spPr>
          <a:xfrm>
            <a:off x="1411001" y="1352592"/>
            <a:ext cx="2028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/>
                </a:solidFill>
              </a:rPr>
              <a:t>Virality = Sales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854DE4-1B02-C7AA-5ED3-BE78C63C1DB9}"/>
              </a:ext>
            </a:extLst>
          </p:cNvPr>
          <p:cNvSpPr txBox="1"/>
          <p:nvPr/>
        </p:nvSpPr>
        <p:spPr>
          <a:xfrm>
            <a:off x="748146" y="3238475"/>
            <a:ext cx="3377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 algn="ctr">
              <a:buNone/>
            </a:pPr>
            <a:r>
              <a:rPr lang="fr-FR" b="1" i="1" dirty="0">
                <a:solidFill>
                  <a:schemeClr val="bg1"/>
                </a:solidFill>
              </a:rPr>
              <a:t>Large digital population </a:t>
            </a:r>
            <a:r>
              <a:rPr lang="fr-FR" b="1" i="1" dirty="0" err="1">
                <a:solidFill>
                  <a:schemeClr val="bg1"/>
                </a:solidFill>
              </a:rPr>
              <a:t>accelerates</a:t>
            </a:r>
            <a:r>
              <a:rPr lang="fr-FR" b="1" i="1" dirty="0">
                <a:solidFill>
                  <a:schemeClr val="bg1"/>
                </a:solidFill>
              </a:rPr>
              <a:t> adoption</a:t>
            </a:r>
            <a:endParaRPr lang="en-IN" b="1" i="1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A4195E-4650-97C6-DA73-9255AC293E00}"/>
              </a:ext>
            </a:extLst>
          </p:cNvPr>
          <p:cNvSpPr txBox="1"/>
          <p:nvPr/>
        </p:nvSpPr>
        <p:spPr>
          <a:xfrm>
            <a:off x="5579722" y="1352592"/>
            <a:ext cx="2718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bg1"/>
                </a:solidFill>
              </a:rPr>
              <a:t>Global hype → local products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67376B-E914-AE0E-2A32-21678C195F6F}"/>
              </a:ext>
            </a:extLst>
          </p:cNvPr>
          <p:cNvSpPr txBox="1"/>
          <p:nvPr/>
        </p:nvSpPr>
        <p:spPr>
          <a:xfrm>
            <a:off x="4813067" y="3226680"/>
            <a:ext cx="3923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Right timing = more sales, fewer missed chances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8" name="Graphic 57" descr="Stopwatch with solid fill">
            <a:extLst>
              <a:ext uri="{FF2B5EF4-FFF2-40B4-BE49-F238E27FC236}">
                <a16:creationId xmlns:a16="http://schemas.microsoft.com/office/drawing/2014/main" id="{FC50B8F1-4BC1-929B-4D38-E9771450F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8061" y="2337382"/>
            <a:ext cx="748772" cy="748772"/>
          </a:xfrm>
          <a:prstGeom prst="rect">
            <a:avLst/>
          </a:prstGeom>
        </p:spPr>
      </p:pic>
      <p:pic>
        <p:nvPicPr>
          <p:cNvPr id="60" name="Graphic 59" descr="Upward trend with solid fill">
            <a:extLst>
              <a:ext uri="{FF2B5EF4-FFF2-40B4-BE49-F238E27FC236}">
                <a16:creationId xmlns:a16="http://schemas.microsoft.com/office/drawing/2014/main" id="{3F498302-5110-2222-292F-1B3AE97A6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9324" y="2269251"/>
            <a:ext cx="782680" cy="782680"/>
          </a:xfrm>
          <a:prstGeom prst="rect">
            <a:avLst/>
          </a:prstGeom>
        </p:spPr>
      </p:pic>
      <p:pic>
        <p:nvPicPr>
          <p:cNvPr id="62" name="Graphic 61" descr="Fire with solid fill">
            <a:extLst>
              <a:ext uri="{FF2B5EF4-FFF2-40B4-BE49-F238E27FC236}">
                <a16:creationId xmlns:a16="http://schemas.microsoft.com/office/drawing/2014/main" id="{F7470249-F632-304F-95B1-3620598FC4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5835" y="1300828"/>
            <a:ext cx="762593" cy="762593"/>
          </a:xfrm>
          <a:prstGeom prst="rect">
            <a:avLst/>
          </a:prstGeom>
        </p:spPr>
      </p:pic>
      <p:pic>
        <p:nvPicPr>
          <p:cNvPr id="64" name="Graphic 63" descr="Lights On with solid fill">
            <a:extLst>
              <a:ext uri="{FF2B5EF4-FFF2-40B4-BE49-F238E27FC236}">
                <a16:creationId xmlns:a16="http://schemas.microsoft.com/office/drawing/2014/main" id="{2E2C88FA-F139-8A1F-1764-EA398369D5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8493" y="1318171"/>
            <a:ext cx="727909" cy="72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78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99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AB778-74DB-C27D-E1FD-23B2AA41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B959-0D5F-6259-54DC-233FAEA5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74862"/>
            <a:ext cx="9144000" cy="993775"/>
          </a:xfrm>
        </p:spPr>
        <p:txBody>
          <a:bodyPr/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What we already know?</a:t>
            </a:r>
            <a:endParaRPr lang="en-US" sz="4000" i="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06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BE315-2BCE-689B-3434-2D724CD72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565931E3-7C9C-BBBE-6030-B45F975E72E6}"/>
              </a:ext>
            </a:extLst>
          </p:cNvPr>
          <p:cNvSpPr/>
          <p:nvPr/>
        </p:nvSpPr>
        <p:spPr>
          <a:xfrm>
            <a:off x="3424843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FF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Single Corner Snipped 20">
            <a:extLst>
              <a:ext uri="{FF2B5EF4-FFF2-40B4-BE49-F238E27FC236}">
                <a16:creationId xmlns:a16="http://schemas.microsoft.com/office/drawing/2014/main" id="{5ED5B410-6AD7-4842-A9C7-92714323865A}"/>
              </a:ext>
            </a:extLst>
          </p:cNvPr>
          <p:cNvSpPr/>
          <p:nvPr/>
        </p:nvSpPr>
        <p:spPr>
          <a:xfrm>
            <a:off x="1180407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C8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B2B9AFC5-F8DB-1309-40BC-4E3AC32F4D7A}"/>
              </a:ext>
            </a:extLst>
          </p:cNvPr>
          <p:cNvSpPr/>
          <p:nvPr/>
        </p:nvSpPr>
        <p:spPr>
          <a:xfrm>
            <a:off x="-1064029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EDE3E1-1506-6F0D-EDF6-E724353ECCF9}"/>
              </a:ext>
            </a:extLst>
          </p:cNvPr>
          <p:cNvGrpSpPr/>
          <p:nvPr/>
        </p:nvGrpSpPr>
        <p:grpSpPr>
          <a:xfrm>
            <a:off x="202945" y="1129798"/>
            <a:ext cx="8738110" cy="738664"/>
            <a:chOff x="182882" y="2571749"/>
            <a:chExt cx="8738110" cy="73866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E64AE9-E5B1-84BB-6AD7-EF44DD8FC226}"/>
                </a:ext>
              </a:extLst>
            </p:cNvPr>
            <p:cNvSpPr txBox="1"/>
            <p:nvPr/>
          </p:nvSpPr>
          <p:spPr>
            <a:xfrm>
              <a:off x="182882" y="2571750"/>
              <a:ext cx="202543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Algorithmic Global Broadcast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C0A3AE-720D-1B42-655F-9687FE818969}"/>
                </a:ext>
              </a:extLst>
            </p:cNvPr>
            <p:cNvSpPr txBox="1"/>
            <p:nvPr/>
          </p:nvSpPr>
          <p:spPr>
            <a:xfrm>
              <a:off x="2420441" y="2571750"/>
              <a:ext cx="202543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>
                      <a:lumMod val="95000"/>
                    </a:schemeClr>
                  </a:solidFill>
                </a:rPr>
                <a:t>Global Cultural Flow on Social Media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D1843DB-D136-CFE5-C802-630AFC0A9A30}"/>
                </a:ext>
              </a:extLst>
            </p:cNvPr>
            <p:cNvSpPr txBox="1"/>
            <p:nvPr/>
          </p:nvSpPr>
          <p:spPr>
            <a:xfrm>
              <a:off x="4657999" y="2571749"/>
              <a:ext cx="202543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Data-Driven Viral Marketing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E8377E-61D8-345A-3030-A5BD2ADA1C7E}"/>
                </a:ext>
              </a:extLst>
            </p:cNvPr>
            <p:cNvSpPr txBox="1"/>
            <p:nvPr/>
          </p:nvSpPr>
          <p:spPr>
            <a:xfrm>
              <a:off x="6895557" y="2571749"/>
              <a:ext cx="2025435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Cross-Market Demand Measured Through Search</a:t>
              </a:r>
              <a:endParaRPr lang="en-IN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352A5DB-1CDA-654D-6639-03F2F55E79E2}"/>
              </a:ext>
            </a:extLst>
          </p:cNvPr>
          <p:cNvGrpSpPr/>
          <p:nvPr/>
        </p:nvGrpSpPr>
        <p:grpSpPr>
          <a:xfrm>
            <a:off x="202945" y="1914309"/>
            <a:ext cx="8738110" cy="2246769"/>
            <a:chOff x="182882" y="3306040"/>
            <a:chExt cx="8738110" cy="224676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0487B3-8281-21CD-0817-34134AC14453}"/>
                </a:ext>
              </a:extLst>
            </p:cNvPr>
            <p:cNvSpPr txBox="1"/>
            <p:nvPr/>
          </p:nvSpPr>
          <p:spPr>
            <a:xfrm>
              <a:off x="182882" y="3306041"/>
              <a:ext cx="2025435" cy="18158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Gerbaudo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 (2024) shows how TikTok’s algorithm pushes viral content across borders, enabling U.S.-origin trends to reach global audiences within hours</a:t>
              </a:r>
              <a:endParaRPr lang="en-IN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36FD30-17EF-42A4-26AB-F498E57D689E}"/>
                </a:ext>
              </a:extLst>
            </p:cNvPr>
            <p:cNvSpPr txBox="1"/>
            <p:nvPr/>
          </p:nvSpPr>
          <p:spPr>
            <a:xfrm>
              <a:off x="2420441" y="3306041"/>
              <a:ext cx="2025435" cy="203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Sun (2024) demonstrates that platforms accelerate cross-cultural adoption of trends, explaining how cultural products popular in the U.S. quickly gain visibility among audiences.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5FD2A9-F152-6A03-ED4B-E29DB391D5EB}"/>
                </a:ext>
              </a:extLst>
            </p:cNvPr>
            <p:cNvSpPr txBox="1"/>
            <p:nvPr/>
          </p:nvSpPr>
          <p:spPr>
            <a:xfrm>
              <a:off x="4657999" y="3306040"/>
              <a:ext cx="2025435" cy="203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Theodorakopoulos, Theodoropoulou, and </a:t>
              </a:r>
              <a:r>
                <a:rPr lang="en-US" dirty="0" err="1">
                  <a:solidFill>
                    <a:schemeClr val="bg1"/>
                  </a:solidFill>
                </a:rPr>
                <a:t>Klavdianos</a:t>
              </a:r>
              <a:r>
                <a:rPr lang="en-US" dirty="0">
                  <a:solidFill>
                    <a:schemeClr val="bg1"/>
                  </a:solidFill>
                </a:rPr>
                <a:t> (2025) shows that combining big data analytics, influencer activity, and platform signals helps track how viral hype forms and spreads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CB3B63-2887-0EF3-2BC4-7C0172B1D891}"/>
                </a:ext>
              </a:extLst>
            </p:cNvPr>
            <p:cNvSpPr txBox="1"/>
            <p:nvPr/>
          </p:nvSpPr>
          <p:spPr>
            <a:xfrm>
              <a:off x="6895557" y="3306040"/>
              <a:ext cx="2025435" cy="22467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Choi &amp; Varian (2012) find that Google Trends can predict economic activity in real time, and Goel et al. (2010) show that search volume can forecast product interest and market demand. </a:t>
              </a:r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9A94B969-05DC-4021-1CCB-CA8E12FB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620" y="-11353"/>
            <a:ext cx="2743201" cy="993775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52541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99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B9EE2-B455-8683-2223-5918335D2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E5F7-CB32-2866-CE5C-EF55DD46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74862"/>
            <a:ext cx="9144000" cy="993775"/>
          </a:xfrm>
        </p:spPr>
        <p:txBody>
          <a:bodyPr/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Research Questions &amp; Objectives</a:t>
            </a:r>
            <a:endParaRPr lang="en-US" sz="4000" i="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484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22C70-150D-CE8C-D41A-79E3F4FB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F2B1402C-787A-EC62-F10A-6BDA177E8D34}"/>
              </a:ext>
            </a:extLst>
          </p:cNvPr>
          <p:cNvSpPr/>
          <p:nvPr/>
        </p:nvSpPr>
        <p:spPr>
          <a:xfrm>
            <a:off x="3424843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FF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Single Corner Snipped 20">
            <a:extLst>
              <a:ext uri="{FF2B5EF4-FFF2-40B4-BE49-F238E27FC236}">
                <a16:creationId xmlns:a16="http://schemas.microsoft.com/office/drawing/2014/main" id="{62C307E1-2A39-E054-473E-003445599914}"/>
              </a:ext>
            </a:extLst>
          </p:cNvPr>
          <p:cNvSpPr/>
          <p:nvPr/>
        </p:nvSpPr>
        <p:spPr>
          <a:xfrm>
            <a:off x="1180407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C8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9C3499E5-9D6C-C834-E92D-6E0792F0DE54}"/>
              </a:ext>
            </a:extLst>
          </p:cNvPr>
          <p:cNvSpPr/>
          <p:nvPr/>
        </p:nvSpPr>
        <p:spPr>
          <a:xfrm>
            <a:off x="-1064029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94C08E5-96D9-52C2-3F5B-36F15E4B4987}"/>
              </a:ext>
            </a:extLst>
          </p:cNvPr>
          <p:cNvGrpSpPr/>
          <p:nvPr/>
        </p:nvGrpSpPr>
        <p:grpSpPr>
          <a:xfrm>
            <a:off x="-306014" y="1318572"/>
            <a:ext cx="8738110" cy="369333"/>
            <a:chOff x="182882" y="2571749"/>
            <a:chExt cx="8738110" cy="36933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401237-6411-0694-50A8-044F1C6939E8}"/>
                </a:ext>
              </a:extLst>
            </p:cNvPr>
            <p:cNvSpPr txBox="1"/>
            <p:nvPr/>
          </p:nvSpPr>
          <p:spPr>
            <a:xfrm>
              <a:off x="182882" y="2571750"/>
              <a:ext cx="2025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800" b="1" dirty="0">
                  <a:solidFill>
                    <a:schemeClr val="bg1"/>
                  </a:solidFill>
                </a:rPr>
                <a:t>RQ 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55804A-B7B3-EACA-6D63-FD5DC6539953}"/>
                </a:ext>
              </a:extLst>
            </p:cNvPr>
            <p:cNvSpPr txBox="1"/>
            <p:nvPr/>
          </p:nvSpPr>
          <p:spPr>
            <a:xfrm>
              <a:off x="2420441" y="2571750"/>
              <a:ext cx="2025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800" b="1" dirty="0">
                  <a:solidFill>
                    <a:schemeClr val="bg1"/>
                  </a:solidFill>
                </a:rPr>
                <a:t>RQ 2</a:t>
              </a:r>
              <a:endParaRPr lang="en-IN" sz="18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92638E-CE3B-52BF-C3D7-93C4BF1552F8}"/>
                </a:ext>
              </a:extLst>
            </p:cNvPr>
            <p:cNvSpPr txBox="1"/>
            <p:nvPr/>
          </p:nvSpPr>
          <p:spPr>
            <a:xfrm>
              <a:off x="4657999" y="2571749"/>
              <a:ext cx="2025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800" b="1" dirty="0">
                  <a:solidFill>
                    <a:schemeClr val="bg1"/>
                  </a:solidFill>
                </a:rPr>
                <a:t>RQ 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234E51-F8A4-F53B-E413-D698EB4C8042}"/>
                </a:ext>
              </a:extLst>
            </p:cNvPr>
            <p:cNvSpPr txBox="1"/>
            <p:nvPr/>
          </p:nvSpPr>
          <p:spPr>
            <a:xfrm>
              <a:off x="6895557" y="2571749"/>
              <a:ext cx="2025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800" b="1" dirty="0">
                  <a:solidFill>
                    <a:schemeClr val="tx1"/>
                  </a:solidFill>
                </a:rPr>
                <a:t>RQ 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19FA66-D51E-0EBC-77BF-1691C245CDDA}"/>
              </a:ext>
            </a:extLst>
          </p:cNvPr>
          <p:cNvGrpSpPr/>
          <p:nvPr/>
        </p:nvGrpSpPr>
        <p:grpSpPr>
          <a:xfrm>
            <a:off x="202945" y="2211185"/>
            <a:ext cx="8738110" cy="1169552"/>
            <a:chOff x="182882" y="3306040"/>
            <a:chExt cx="8738110" cy="116955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47846F-80FB-4FA8-AF96-498FE2E14F49}"/>
                </a:ext>
              </a:extLst>
            </p:cNvPr>
            <p:cNvSpPr txBox="1"/>
            <p:nvPr/>
          </p:nvSpPr>
          <p:spPr>
            <a:xfrm>
              <a:off x="182882" y="3306041"/>
              <a:ext cx="2025435" cy="11695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Does social-media-driven hype in the U.S. correlate with subsequent consumer attention in India?</a:t>
              </a:r>
              <a:endParaRPr lang="en-IN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12A858F-B7C4-37A1-6553-764C71950E25}"/>
                </a:ext>
              </a:extLst>
            </p:cNvPr>
            <p:cNvSpPr txBox="1"/>
            <p:nvPr/>
          </p:nvSpPr>
          <p:spPr>
            <a:xfrm>
              <a:off x="2420441" y="3306041"/>
              <a:ext cx="2025435" cy="9541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How long does it take for a trend to diffuse from the U.S. to India (i.e., the diffusion lag)?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E9B8F05-BC4B-F5D7-D3ED-BC558C13756F}"/>
                </a:ext>
              </a:extLst>
            </p:cNvPr>
            <p:cNvSpPr txBox="1"/>
            <p:nvPr/>
          </p:nvSpPr>
          <p:spPr>
            <a:xfrm>
              <a:off x="4657999" y="3306040"/>
              <a:ext cx="2025435" cy="11695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Do different product categories (beauty, lifestyle, beverages, toys) exhibit different diffusion speeds?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2AAC3F-B84E-778B-40DE-0D4CCD7219BB}"/>
                </a:ext>
              </a:extLst>
            </p:cNvPr>
            <p:cNvSpPr txBox="1"/>
            <p:nvPr/>
          </p:nvSpPr>
          <p:spPr>
            <a:xfrm>
              <a:off x="6895557" y="3306040"/>
              <a:ext cx="2025435" cy="11695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Does online sentiment differ between U.S. and Indian audiences for the same trending product?</a:t>
              </a:r>
              <a:endParaRPr lang="en-IN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3BBEB57C-2A66-C7A2-B96D-2A9E0576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620" y="-11353"/>
            <a:ext cx="2743201" cy="993775"/>
          </a:xfrm>
        </p:spPr>
        <p:txBody>
          <a:bodyPr/>
          <a:lstStyle/>
          <a:p>
            <a:r>
              <a:rPr lang="en-US" dirty="0"/>
              <a:t>Research Questions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7C9C898-C86A-D7EF-FD28-C4FB26DB7C59}"/>
              </a:ext>
            </a:extLst>
          </p:cNvPr>
          <p:cNvGrpSpPr/>
          <p:nvPr/>
        </p:nvGrpSpPr>
        <p:grpSpPr>
          <a:xfrm>
            <a:off x="169117" y="3499039"/>
            <a:ext cx="2025435" cy="805029"/>
            <a:chOff x="0" y="3444353"/>
            <a:chExt cx="2327564" cy="940638"/>
          </a:xfrm>
        </p:grpSpPr>
        <p:pic>
          <p:nvPicPr>
            <p:cNvPr id="31" name="Graphic 30" descr="Earth Globe - Asia with solid fill">
              <a:extLst>
                <a:ext uri="{FF2B5EF4-FFF2-40B4-BE49-F238E27FC236}">
                  <a16:creationId xmlns:a16="http://schemas.microsoft.com/office/drawing/2014/main" id="{5C3BFE68-8DE8-A0A9-8D43-017493D85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13164" y="3444353"/>
              <a:ext cx="914400" cy="914400"/>
            </a:xfrm>
            <a:prstGeom prst="rect">
              <a:avLst/>
            </a:prstGeom>
          </p:spPr>
        </p:pic>
        <p:pic>
          <p:nvPicPr>
            <p:cNvPr id="33" name="Graphic 32" descr="Earth globe: Americas with solid fill">
              <a:extLst>
                <a:ext uri="{FF2B5EF4-FFF2-40B4-BE49-F238E27FC236}">
                  <a16:creationId xmlns:a16="http://schemas.microsoft.com/office/drawing/2014/main" id="{5E996C69-7C83-D1B4-4BDF-0001C3F90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3470591"/>
              <a:ext cx="914400" cy="914400"/>
            </a:xfrm>
            <a:prstGeom prst="rect">
              <a:avLst/>
            </a:prstGeom>
          </p:spPr>
        </p:pic>
        <p:pic>
          <p:nvPicPr>
            <p:cNvPr id="37" name="Graphic 36" descr="Chevron arrows outline">
              <a:extLst>
                <a:ext uri="{FF2B5EF4-FFF2-40B4-BE49-F238E27FC236}">
                  <a16:creationId xmlns:a16="http://schemas.microsoft.com/office/drawing/2014/main" id="{10EBDBF1-875E-3AED-0E8D-52A1BC88B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0881" y="3545277"/>
              <a:ext cx="712552" cy="712552"/>
            </a:xfrm>
            <a:prstGeom prst="rect">
              <a:avLst/>
            </a:prstGeom>
          </p:spPr>
        </p:pic>
      </p:grpSp>
      <p:pic>
        <p:nvPicPr>
          <p:cNvPr id="39" name="Graphic 38" descr="Hourglass 60% with solid fill">
            <a:extLst>
              <a:ext uri="{FF2B5EF4-FFF2-40B4-BE49-F238E27FC236}">
                <a16:creationId xmlns:a16="http://schemas.microsoft.com/office/drawing/2014/main" id="{6AC78353-6472-CBB6-5F1C-F501819545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89695" y="3380736"/>
            <a:ext cx="870295" cy="870295"/>
          </a:xfrm>
          <a:prstGeom prst="rect">
            <a:avLst/>
          </a:prstGeom>
        </p:spPr>
      </p:pic>
      <p:pic>
        <p:nvPicPr>
          <p:cNvPr id="41" name="Graphic 40" descr="Shopping cart with solid fill">
            <a:extLst>
              <a:ext uri="{FF2B5EF4-FFF2-40B4-BE49-F238E27FC236}">
                <a16:creationId xmlns:a16="http://schemas.microsoft.com/office/drawing/2014/main" id="{88465D79-5086-6154-EB4E-2EF3E62D9D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4131" y="3381021"/>
            <a:ext cx="869723" cy="869723"/>
          </a:xfrm>
          <a:prstGeom prst="rect">
            <a:avLst/>
          </a:prstGeom>
        </p:spPr>
      </p:pic>
      <p:pic>
        <p:nvPicPr>
          <p:cNvPr id="43" name="Graphic 42" descr="Sad face with solid fill with solid fill">
            <a:extLst>
              <a:ext uri="{FF2B5EF4-FFF2-40B4-BE49-F238E27FC236}">
                <a16:creationId xmlns:a16="http://schemas.microsoft.com/office/drawing/2014/main" id="{219A8096-2DD4-297E-8E36-9C8E7F5E71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75287" y="3478882"/>
            <a:ext cx="647537" cy="647537"/>
          </a:xfrm>
          <a:prstGeom prst="rect">
            <a:avLst/>
          </a:prstGeom>
        </p:spPr>
      </p:pic>
      <p:pic>
        <p:nvPicPr>
          <p:cNvPr id="45" name="Graphic 44" descr="Neutral face with solid fill with solid fill">
            <a:extLst>
              <a:ext uri="{FF2B5EF4-FFF2-40B4-BE49-F238E27FC236}">
                <a16:creationId xmlns:a16="http://schemas.microsoft.com/office/drawing/2014/main" id="{A1F80273-82A7-7A06-5B71-05E89087BCB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39824" y="3478882"/>
            <a:ext cx="647537" cy="647537"/>
          </a:xfrm>
          <a:prstGeom prst="rect">
            <a:avLst/>
          </a:prstGeom>
        </p:spPr>
      </p:pic>
      <p:pic>
        <p:nvPicPr>
          <p:cNvPr id="47" name="Graphic 46" descr="Smiling face with solid fill with solid fill">
            <a:extLst>
              <a:ext uri="{FF2B5EF4-FFF2-40B4-BE49-F238E27FC236}">
                <a16:creationId xmlns:a16="http://schemas.microsoft.com/office/drawing/2014/main" id="{0BD83018-F254-0A42-6F52-73685E1D387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04361" y="3478882"/>
            <a:ext cx="647537" cy="6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58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17FA1-BBB0-8917-F264-9E5F9D428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32DB0-8828-8553-D03C-76B99915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74862"/>
            <a:ext cx="9144000" cy="993775"/>
          </a:xfrm>
        </p:spPr>
        <p:txBody>
          <a:bodyPr/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Data Sources &amp; Platform Limitations</a:t>
            </a:r>
            <a:endParaRPr lang="en-US" sz="4000" i="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274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CBFCD0-D832-794E-4441-6CCC612D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1AC7040-7B12-0B5F-8378-E0CB60BCA320}"/>
              </a:ext>
            </a:extLst>
          </p:cNvPr>
          <p:cNvSpPr/>
          <p:nvPr/>
        </p:nvSpPr>
        <p:spPr>
          <a:xfrm>
            <a:off x="3326147" y="1004512"/>
            <a:ext cx="1111113" cy="1129464"/>
          </a:xfrm>
          <a:custGeom>
            <a:avLst/>
            <a:gdLst>
              <a:gd name="csX0" fmla="*/ 1032954 w 1032954"/>
              <a:gd name="csY0" fmla="*/ 0 h 1030773"/>
              <a:gd name="csX1" fmla="*/ 1032954 w 1032954"/>
              <a:gd name="csY1" fmla="*/ 715032 h 1030773"/>
              <a:gd name="csX2" fmla="*/ 722464 w 1032954"/>
              <a:gd name="csY2" fmla="*/ 1030773 h 1030773"/>
              <a:gd name="csX3" fmla="*/ 0 w 1032954"/>
              <a:gd name="csY3" fmla="*/ 1030773 h 1030773"/>
              <a:gd name="csX4" fmla="*/ 3700 w 1032954"/>
              <a:gd name="csY4" fmla="*/ 959432 h 1030773"/>
              <a:gd name="csX5" fmla="*/ 986834 w 1032954"/>
              <a:gd name="csY5" fmla="*/ 2267 h 1030773"/>
              <a:gd name="csX6" fmla="*/ 1032954 w 1032954"/>
              <a:gd name="csY6" fmla="*/ 0 h 1030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2954" h="1030773">
                <a:moveTo>
                  <a:pt x="1032954" y="0"/>
                </a:moveTo>
                <a:lnTo>
                  <a:pt x="1032954" y="715032"/>
                </a:lnTo>
                <a:cubicBezTo>
                  <a:pt x="1032954" y="889411"/>
                  <a:pt x="893943" y="1030773"/>
                  <a:pt x="722464" y="1030773"/>
                </a:cubicBezTo>
                <a:lnTo>
                  <a:pt x="0" y="1030773"/>
                </a:lnTo>
                <a:lnTo>
                  <a:pt x="3700" y="959432"/>
                </a:lnTo>
                <a:cubicBezTo>
                  <a:pt x="56344" y="454746"/>
                  <a:pt x="468455" y="53521"/>
                  <a:pt x="986834" y="2267"/>
                </a:cubicBezTo>
                <a:lnTo>
                  <a:pt x="1032954" y="0"/>
                </a:lnTo>
                <a:close/>
              </a:path>
            </a:pathLst>
          </a:custGeom>
          <a:solidFill>
            <a:srgbClr val="C80000"/>
          </a:solidFill>
          <a:ln w="12700">
            <a:solidFill>
              <a:srgbClr val="F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5979FD9-FDFF-393F-5F7D-67E603C85B1E}"/>
              </a:ext>
            </a:extLst>
          </p:cNvPr>
          <p:cNvSpPr/>
          <p:nvPr/>
        </p:nvSpPr>
        <p:spPr>
          <a:xfrm>
            <a:off x="4580316" y="1004512"/>
            <a:ext cx="1111112" cy="1129464"/>
          </a:xfrm>
          <a:custGeom>
            <a:avLst/>
            <a:gdLst>
              <a:gd name="csX0" fmla="*/ 0 w 1032953"/>
              <a:gd name="csY0" fmla="*/ 0 h 1030773"/>
              <a:gd name="csX1" fmla="*/ 46118 w 1032953"/>
              <a:gd name="csY1" fmla="*/ 2267 h 1030773"/>
              <a:gd name="csX2" fmla="*/ 1029252 w 1032953"/>
              <a:gd name="csY2" fmla="*/ 959432 h 1030773"/>
              <a:gd name="csX3" fmla="*/ 1032953 w 1032953"/>
              <a:gd name="csY3" fmla="*/ 1030773 h 1030773"/>
              <a:gd name="csX4" fmla="*/ 315741 w 1032953"/>
              <a:gd name="csY4" fmla="*/ 1030773 h 1030773"/>
              <a:gd name="csX5" fmla="*/ 0 w 1032953"/>
              <a:gd name="csY5" fmla="*/ 715032 h 1030773"/>
              <a:gd name="csX6" fmla="*/ 0 w 1032953"/>
              <a:gd name="csY6" fmla="*/ 0 h 1030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2953" h="1030773">
                <a:moveTo>
                  <a:pt x="0" y="0"/>
                </a:moveTo>
                <a:lnTo>
                  <a:pt x="46118" y="2267"/>
                </a:lnTo>
                <a:cubicBezTo>
                  <a:pt x="564497" y="53521"/>
                  <a:pt x="976608" y="454746"/>
                  <a:pt x="1029252" y="959432"/>
                </a:cubicBezTo>
                <a:lnTo>
                  <a:pt x="1032953" y="1030773"/>
                </a:lnTo>
                <a:lnTo>
                  <a:pt x="315741" y="1030773"/>
                </a:lnTo>
                <a:cubicBezTo>
                  <a:pt x="141362" y="1030773"/>
                  <a:pt x="0" y="889411"/>
                  <a:pt x="0" y="715032"/>
                </a:cubicBezTo>
                <a:lnTo>
                  <a:pt x="0" y="0"/>
                </a:lnTo>
                <a:close/>
              </a:path>
            </a:pathLst>
          </a:custGeom>
          <a:solidFill>
            <a:srgbClr val="C80000"/>
          </a:solidFill>
          <a:ln w="12700">
            <a:solidFill>
              <a:srgbClr val="FBC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59CE3A71-B430-F3F4-27E9-6027C9FED1DB}"/>
              </a:ext>
            </a:extLst>
          </p:cNvPr>
          <p:cNvSpPr/>
          <p:nvPr/>
        </p:nvSpPr>
        <p:spPr>
          <a:xfrm>
            <a:off x="3326148" y="2263455"/>
            <a:ext cx="1111110" cy="1129464"/>
          </a:xfrm>
          <a:custGeom>
            <a:avLst/>
            <a:gdLst>
              <a:gd name="csX0" fmla="*/ 0 w 1032951"/>
              <a:gd name="csY0" fmla="*/ 0 h 1030773"/>
              <a:gd name="csX1" fmla="*/ 722461 w 1032951"/>
              <a:gd name="csY1" fmla="*/ 0 h 1030773"/>
              <a:gd name="csX2" fmla="*/ 1032951 w 1032951"/>
              <a:gd name="csY2" fmla="*/ 315741 h 1030773"/>
              <a:gd name="csX3" fmla="*/ 1032951 w 1032951"/>
              <a:gd name="csY3" fmla="*/ 1030773 h 1030773"/>
              <a:gd name="csX4" fmla="*/ 986834 w 1032951"/>
              <a:gd name="csY4" fmla="*/ 1028506 h 1030773"/>
              <a:gd name="csX5" fmla="*/ 3700 w 1032951"/>
              <a:gd name="csY5" fmla="*/ 71341 h 1030773"/>
              <a:gd name="csX6" fmla="*/ 0 w 1032951"/>
              <a:gd name="csY6" fmla="*/ 0 h 1030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2951" h="1030773">
                <a:moveTo>
                  <a:pt x="0" y="0"/>
                </a:moveTo>
                <a:lnTo>
                  <a:pt x="722461" y="0"/>
                </a:lnTo>
                <a:cubicBezTo>
                  <a:pt x="893940" y="0"/>
                  <a:pt x="1032951" y="141362"/>
                  <a:pt x="1032951" y="315741"/>
                </a:cubicBezTo>
                <a:lnTo>
                  <a:pt x="1032951" y="1030773"/>
                </a:lnTo>
                <a:lnTo>
                  <a:pt x="986834" y="1028506"/>
                </a:lnTo>
                <a:cubicBezTo>
                  <a:pt x="468455" y="977252"/>
                  <a:pt x="56344" y="576027"/>
                  <a:pt x="3700" y="71341"/>
                </a:cubicBezTo>
                <a:lnTo>
                  <a:pt x="0" y="0"/>
                </a:lnTo>
                <a:close/>
              </a:path>
            </a:pathLst>
          </a:custGeom>
          <a:solidFill>
            <a:srgbClr val="FF3131"/>
          </a:solidFill>
          <a:ln w="12700">
            <a:solidFill>
              <a:srgbClr val="FBC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7B4FE03-47E0-F918-0A70-23EBC5366A8C}"/>
              </a:ext>
            </a:extLst>
          </p:cNvPr>
          <p:cNvSpPr/>
          <p:nvPr/>
        </p:nvSpPr>
        <p:spPr>
          <a:xfrm>
            <a:off x="4580316" y="2263455"/>
            <a:ext cx="1111112" cy="1129464"/>
          </a:xfrm>
          <a:custGeom>
            <a:avLst/>
            <a:gdLst>
              <a:gd name="csX0" fmla="*/ 315741 w 1032953"/>
              <a:gd name="csY0" fmla="*/ 0 h 1030773"/>
              <a:gd name="csX1" fmla="*/ 1032953 w 1032953"/>
              <a:gd name="csY1" fmla="*/ 0 h 1030773"/>
              <a:gd name="csX2" fmla="*/ 1029252 w 1032953"/>
              <a:gd name="csY2" fmla="*/ 71341 h 1030773"/>
              <a:gd name="csX3" fmla="*/ 46118 w 1032953"/>
              <a:gd name="csY3" fmla="*/ 1028506 h 1030773"/>
              <a:gd name="csX4" fmla="*/ 0 w 1032953"/>
              <a:gd name="csY4" fmla="*/ 1030773 h 1030773"/>
              <a:gd name="csX5" fmla="*/ 0 w 1032953"/>
              <a:gd name="csY5" fmla="*/ 315741 h 1030773"/>
              <a:gd name="csX6" fmla="*/ 315741 w 1032953"/>
              <a:gd name="csY6" fmla="*/ 0 h 1030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2953" h="1030773">
                <a:moveTo>
                  <a:pt x="315741" y="0"/>
                </a:moveTo>
                <a:lnTo>
                  <a:pt x="1032953" y="0"/>
                </a:lnTo>
                <a:lnTo>
                  <a:pt x="1029252" y="71341"/>
                </a:lnTo>
                <a:cubicBezTo>
                  <a:pt x="976608" y="576027"/>
                  <a:pt x="564497" y="977252"/>
                  <a:pt x="46118" y="1028506"/>
                </a:cubicBezTo>
                <a:lnTo>
                  <a:pt x="0" y="1030773"/>
                </a:lnTo>
                <a:lnTo>
                  <a:pt x="0" y="315741"/>
                </a:lnTo>
                <a:cubicBezTo>
                  <a:pt x="0" y="141362"/>
                  <a:pt x="141362" y="0"/>
                  <a:pt x="315741" y="0"/>
                </a:cubicBezTo>
                <a:close/>
              </a:path>
            </a:pathLst>
          </a:custGeom>
          <a:solidFill>
            <a:srgbClr val="FF3131"/>
          </a:solidFill>
          <a:ln w="12700">
            <a:solidFill>
              <a:srgbClr val="F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F12CCD2-CDCE-B6D8-191F-7190B4234796}"/>
              </a:ext>
            </a:extLst>
          </p:cNvPr>
          <p:cNvSpPr/>
          <p:nvPr/>
        </p:nvSpPr>
        <p:spPr>
          <a:xfrm>
            <a:off x="207825" y="58188"/>
            <a:ext cx="4229435" cy="2075788"/>
          </a:xfrm>
          <a:custGeom>
            <a:avLst/>
            <a:gdLst>
              <a:gd name="csX0" fmla="*/ 310490 w 3931924"/>
              <a:gd name="csY0" fmla="*/ 0 h 1894409"/>
              <a:gd name="csX1" fmla="*/ 3621434 w 3931924"/>
              <a:gd name="csY1" fmla="*/ 0 h 1894409"/>
              <a:gd name="csX2" fmla="*/ 3931924 w 3931924"/>
              <a:gd name="csY2" fmla="*/ 315741 h 1894409"/>
              <a:gd name="csX3" fmla="*/ 3931924 w 3931924"/>
              <a:gd name="csY3" fmla="*/ 863636 h 1894409"/>
              <a:gd name="csX4" fmla="*/ 3885804 w 3931924"/>
              <a:gd name="csY4" fmla="*/ 865903 h 1894409"/>
              <a:gd name="csX5" fmla="*/ 2902670 w 3931924"/>
              <a:gd name="csY5" fmla="*/ 1823068 h 1894409"/>
              <a:gd name="csX6" fmla="*/ 2898970 w 3931924"/>
              <a:gd name="csY6" fmla="*/ 1894409 h 1894409"/>
              <a:gd name="csX7" fmla="*/ 310490 w 3931924"/>
              <a:gd name="csY7" fmla="*/ 1894409 h 1894409"/>
              <a:gd name="csX8" fmla="*/ 0 w 3931924"/>
              <a:gd name="csY8" fmla="*/ 1578668 h 1894409"/>
              <a:gd name="csX9" fmla="*/ 0 w 3931924"/>
              <a:gd name="csY9" fmla="*/ 315741 h 1894409"/>
              <a:gd name="csX10" fmla="*/ 310490 w 3931924"/>
              <a:gd name="csY10" fmla="*/ 0 h 1894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931924" h="1894409">
                <a:moveTo>
                  <a:pt x="310490" y="0"/>
                </a:moveTo>
                <a:lnTo>
                  <a:pt x="3621434" y="0"/>
                </a:lnTo>
                <a:cubicBezTo>
                  <a:pt x="3792913" y="0"/>
                  <a:pt x="3931924" y="141362"/>
                  <a:pt x="3931924" y="315741"/>
                </a:cubicBezTo>
                <a:lnTo>
                  <a:pt x="3931924" y="863636"/>
                </a:lnTo>
                <a:lnTo>
                  <a:pt x="3885804" y="865903"/>
                </a:lnTo>
                <a:cubicBezTo>
                  <a:pt x="3367425" y="917157"/>
                  <a:pt x="2955314" y="1318382"/>
                  <a:pt x="2902670" y="1823068"/>
                </a:cubicBezTo>
                <a:lnTo>
                  <a:pt x="2898970" y="1894409"/>
                </a:lnTo>
                <a:lnTo>
                  <a:pt x="310490" y="1894409"/>
                </a:lnTo>
                <a:cubicBezTo>
                  <a:pt x="139011" y="1894409"/>
                  <a:pt x="0" y="1753047"/>
                  <a:pt x="0" y="1578668"/>
                </a:cubicBezTo>
                <a:lnTo>
                  <a:pt x="0" y="315741"/>
                </a:lnTo>
                <a:cubicBezTo>
                  <a:pt x="0" y="141362"/>
                  <a:pt x="139011" y="0"/>
                  <a:pt x="310490" y="0"/>
                </a:cubicBezTo>
                <a:close/>
              </a:path>
            </a:pathLst>
          </a:custGeom>
          <a:solidFill>
            <a:srgbClr val="990000"/>
          </a:solidFill>
          <a:ln w="19050">
            <a:solidFill>
              <a:srgbClr val="FBC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en-IN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2EF80C-03F8-3A80-C961-ACD2702BBD7A}"/>
              </a:ext>
            </a:extLst>
          </p:cNvPr>
          <p:cNvSpPr/>
          <p:nvPr/>
        </p:nvSpPr>
        <p:spPr>
          <a:xfrm>
            <a:off x="4580315" y="58188"/>
            <a:ext cx="4229438" cy="2075788"/>
          </a:xfrm>
          <a:custGeom>
            <a:avLst/>
            <a:gdLst>
              <a:gd name="csX0" fmla="*/ 315741 w 3931927"/>
              <a:gd name="csY0" fmla="*/ 0 h 1894409"/>
              <a:gd name="csX1" fmla="*/ 3616186 w 3931927"/>
              <a:gd name="csY1" fmla="*/ 0 h 1894409"/>
              <a:gd name="csX2" fmla="*/ 3931927 w 3931927"/>
              <a:gd name="csY2" fmla="*/ 315741 h 1894409"/>
              <a:gd name="csX3" fmla="*/ 3931927 w 3931927"/>
              <a:gd name="csY3" fmla="*/ 1578668 h 1894409"/>
              <a:gd name="csX4" fmla="*/ 3616186 w 3931927"/>
              <a:gd name="csY4" fmla="*/ 1894409 h 1894409"/>
              <a:gd name="csX5" fmla="*/ 1032953 w 3931927"/>
              <a:gd name="csY5" fmla="*/ 1894409 h 1894409"/>
              <a:gd name="csX6" fmla="*/ 1029252 w 3931927"/>
              <a:gd name="csY6" fmla="*/ 1823068 h 1894409"/>
              <a:gd name="csX7" fmla="*/ 46118 w 3931927"/>
              <a:gd name="csY7" fmla="*/ 865903 h 1894409"/>
              <a:gd name="csX8" fmla="*/ 0 w 3931927"/>
              <a:gd name="csY8" fmla="*/ 863636 h 1894409"/>
              <a:gd name="csX9" fmla="*/ 0 w 3931927"/>
              <a:gd name="csY9" fmla="*/ 315741 h 1894409"/>
              <a:gd name="csX10" fmla="*/ 315741 w 3931927"/>
              <a:gd name="csY10" fmla="*/ 0 h 1894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931927" h="1894409">
                <a:moveTo>
                  <a:pt x="315741" y="0"/>
                </a:moveTo>
                <a:lnTo>
                  <a:pt x="3616186" y="0"/>
                </a:lnTo>
                <a:cubicBezTo>
                  <a:pt x="3790565" y="0"/>
                  <a:pt x="3931927" y="141362"/>
                  <a:pt x="3931927" y="315741"/>
                </a:cubicBezTo>
                <a:lnTo>
                  <a:pt x="3931927" y="1578668"/>
                </a:lnTo>
                <a:cubicBezTo>
                  <a:pt x="3931927" y="1753047"/>
                  <a:pt x="3790565" y="1894409"/>
                  <a:pt x="3616186" y="1894409"/>
                </a:cubicBezTo>
                <a:lnTo>
                  <a:pt x="1032953" y="1894409"/>
                </a:lnTo>
                <a:lnTo>
                  <a:pt x="1029252" y="1823068"/>
                </a:lnTo>
                <a:cubicBezTo>
                  <a:pt x="976608" y="1318382"/>
                  <a:pt x="564497" y="917157"/>
                  <a:pt x="46118" y="865903"/>
                </a:cubicBezTo>
                <a:lnTo>
                  <a:pt x="0" y="863636"/>
                </a:lnTo>
                <a:lnTo>
                  <a:pt x="0" y="315741"/>
                </a:lnTo>
                <a:cubicBezTo>
                  <a:pt x="0" y="141362"/>
                  <a:pt x="141362" y="0"/>
                  <a:pt x="315741" y="0"/>
                </a:cubicBezTo>
                <a:close/>
              </a:path>
            </a:pathLst>
          </a:custGeom>
          <a:solidFill>
            <a:srgbClr val="990000"/>
          </a:solidFill>
          <a:ln w="19050">
            <a:solidFill>
              <a:srgbClr val="FBC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607B065-0690-05E4-39EC-F901C6A9B13A}"/>
              </a:ext>
            </a:extLst>
          </p:cNvPr>
          <p:cNvSpPr/>
          <p:nvPr/>
        </p:nvSpPr>
        <p:spPr>
          <a:xfrm>
            <a:off x="207822" y="2263455"/>
            <a:ext cx="4229435" cy="2075788"/>
          </a:xfrm>
          <a:custGeom>
            <a:avLst/>
            <a:gdLst>
              <a:gd name="csX0" fmla="*/ 310490 w 3931924"/>
              <a:gd name="csY0" fmla="*/ 0 h 1894409"/>
              <a:gd name="csX1" fmla="*/ 2898973 w 3931924"/>
              <a:gd name="csY1" fmla="*/ 0 h 1894409"/>
              <a:gd name="csX2" fmla="*/ 2902673 w 3931924"/>
              <a:gd name="csY2" fmla="*/ 71341 h 1894409"/>
              <a:gd name="csX3" fmla="*/ 3885807 w 3931924"/>
              <a:gd name="csY3" fmla="*/ 1028506 h 1894409"/>
              <a:gd name="csX4" fmla="*/ 3931924 w 3931924"/>
              <a:gd name="csY4" fmla="*/ 1030773 h 1894409"/>
              <a:gd name="csX5" fmla="*/ 3931924 w 3931924"/>
              <a:gd name="csY5" fmla="*/ 1578668 h 1894409"/>
              <a:gd name="csX6" fmla="*/ 3621434 w 3931924"/>
              <a:gd name="csY6" fmla="*/ 1894409 h 1894409"/>
              <a:gd name="csX7" fmla="*/ 310490 w 3931924"/>
              <a:gd name="csY7" fmla="*/ 1894409 h 1894409"/>
              <a:gd name="csX8" fmla="*/ 0 w 3931924"/>
              <a:gd name="csY8" fmla="*/ 1578668 h 1894409"/>
              <a:gd name="csX9" fmla="*/ 0 w 3931924"/>
              <a:gd name="csY9" fmla="*/ 315741 h 1894409"/>
              <a:gd name="csX10" fmla="*/ 310490 w 3931924"/>
              <a:gd name="csY10" fmla="*/ 0 h 1894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931924" h="1894409">
                <a:moveTo>
                  <a:pt x="310490" y="0"/>
                </a:moveTo>
                <a:lnTo>
                  <a:pt x="2898973" y="0"/>
                </a:lnTo>
                <a:lnTo>
                  <a:pt x="2902673" y="71341"/>
                </a:lnTo>
                <a:cubicBezTo>
                  <a:pt x="2955317" y="576027"/>
                  <a:pt x="3367428" y="977252"/>
                  <a:pt x="3885807" y="1028506"/>
                </a:cubicBezTo>
                <a:lnTo>
                  <a:pt x="3931924" y="1030773"/>
                </a:lnTo>
                <a:lnTo>
                  <a:pt x="3931924" y="1578668"/>
                </a:lnTo>
                <a:cubicBezTo>
                  <a:pt x="3931924" y="1753047"/>
                  <a:pt x="3792913" y="1894409"/>
                  <a:pt x="3621434" y="1894409"/>
                </a:cubicBezTo>
                <a:lnTo>
                  <a:pt x="310490" y="1894409"/>
                </a:lnTo>
                <a:cubicBezTo>
                  <a:pt x="139011" y="1894409"/>
                  <a:pt x="0" y="1753047"/>
                  <a:pt x="0" y="1578668"/>
                </a:cubicBezTo>
                <a:lnTo>
                  <a:pt x="0" y="315741"/>
                </a:lnTo>
                <a:cubicBezTo>
                  <a:pt x="0" y="141362"/>
                  <a:pt x="139011" y="0"/>
                  <a:pt x="310490" y="0"/>
                </a:cubicBezTo>
                <a:close/>
              </a:path>
            </a:pathLst>
          </a:custGeom>
          <a:solidFill>
            <a:srgbClr val="990000"/>
          </a:solidFill>
          <a:ln w="19050">
            <a:solidFill>
              <a:srgbClr val="FBC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8DCAD3E-FDDA-048D-F7B2-4AAB0DC33149}"/>
              </a:ext>
            </a:extLst>
          </p:cNvPr>
          <p:cNvSpPr/>
          <p:nvPr/>
        </p:nvSpPr>
        <p:spPr>
          <a:xfrm>
            <a:off x="4580315" y="2263454"/>
            <a:ext cx="4229435" cy="2075789"/>
          </a:xfrm>
          <a:custGeom>
            <a:avLst/>
            <a:gdLst>
              <a:gd name="csX0" fmla="*/ 1032953 w 3931924"/>
              <a:gd name="csY0" fmla="*/ 0 h 1894410"/>
              <a:gd name="csX1" fmla="*/ 3616183 w 3931924"/>
              <a:gd name="csY1" fmla="*/ 0 h 1894410"/>
              <a:gd name="csX2" fmla="*/ 3931924 w 3931924"/>
              <a:gd name="csY2" fmla="*/ 315741 h 1894410"/>
              <a:gd name="csX3" fmla="*/ 3931924 w 3931924"/>
              <a:gd name="csY3" fmla="*/ 1578669 h 1894410"/>
              <a:gd name="csX4" fmla="*/ 3616183 w 3931924"/>
              <a:gd name="csY4" fmla="*/ 1894410 h 1894410"/>
              <a:gd name="csX5" fmla="*/ 315741 w 3931924"/>
              <a:gd name="csY5" fmla="*/ 1894410 h 1894410"/>
              <a:gd name="csX6" fmla="*/ 0 w 3931924"/>
              <a:gd name="csY6" fmla="*/ 1578669 h 1894410"/>
              <a:gd name="csX7" fmla="*/ 0 w 3931924"/>
              <a:gd name="csY7" fmla="*/ 1030773 h 1894410"/>
              <a:gd name="csX8" fmla="*/ 46118 w 3931924"/>
              <a:gd name="csY8" fmla="*/ 1028506 h 1894410"/>
              <a:gd name="csX9" fmla="*/ 1029252 w 3931924"/>
              <a:gd name="csY9" fmla="*/ 71341 h 1894410"/>
              <a:gd name="csX10" fmla="*/ 1032953 w 3931924"/>
              <a:gd name="csY10" fmla="*/ 0 h 1894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931924" h="1894410">
                <a:moveTo>
                  <a:pt x="1032953" y="0"/>
                </a:moveTo>
                <a:lnTo>
                  <a:pt x="3616183" y="0"/>
                </a:lnTo>
                <a:cubicBezTo>
                  <a:pt x="3790562" y="0"/>
                  <a:pt x="3931924" y="141362"/>
                  <a:pt x="3931924" y="315741"/>
                </a:cubicBezTo>
                <a:lnTo>
                  <a:pt x="3931924" y="1578669"/>
                </a:lnTo>
                <a:cubicBezTo>
                  <a:pt x="3931924" y="1753048"/>
                  <a:pt x="3790562" y="1894410"/>
                  <a:pt x="3616183" y="1894410"/>
                </a:cubicBezTo>
                <a:lnTo>
                  <a:pt x="315741" y="1894410"/>
                </a:lnTo>
                <a:cubicBezTo>
                  <a:pt x="141362" y="1894410"/>
                  <a:pt x="0" y="1753048"/>
                  <a:pt x="0" y="1578669"/>
                </a:cubicBezTo>
                <a:lnTo>
                  <a:pt x="0" y="1030773"/>
                </a:lnTo>
                <a:lnTo>
                  <a:pt x="46118" y="1028506"/>
                </a:lnTo>
                <a:cubicBezTo>
                  <a:pt x="564497" y="977252"/>
                  <a:pt x="976608" y="576027"/>
                  <a:pt x="1029252" y="71341"/>
                </a:cubicBezTo>
                <a:lnTo>
                  <a:pt x="1032953" y="0"/>
                </a:lnTo>
                <a:close/>
              </a:path>
            </a:pathLst>
          </a:custGeom>
          <a:solidFill>
            <a:srgbClr val="990000"/>
          </a:solidFill>
          <a:ln w="19050">
            <a:solidFill>
              <a:srgbClr val="F6C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BDEA75-2920-FEDB-2F67-10FF4B8CC8A8}"/>
              </a:ext>
            </a:extLst>
          </p:cNvPr>
          <p:cNvSpPr txBox="1"/>
          <p:nvPr/>
        </p:nvSpPr>
        <p:spPr>
          <a:xfrm>
            <a:off x="207819" y="101915"/>
            <a:ext cx="417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Google Trends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845799-0256-5B1F-11E5-8A30AB496C37}"/>
              </a:ext>
            </a:extLst>
          </p:cNvPr>
          <p:cNvSpPr txBox="1"/>
          <p:nvPr/>
        </p:nvSpPr>
        <p:spPr>
          <a:xfrm>
            <a:off x="493122" y="2347316"/>
            <a:ext cx="3341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Amazon Data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676529-3830-00FA-B35B-09469737D2ED}"/>
              </a:ext>
            </a:extLst>
          </p:cNvPr>
          <p:cNvSpPr txBox="1"/>
          <p:nvPr/>
        </p:nvSpPr>
        <p:spPr>
          <a:xfrm>
            <a:off x="4580315" y="72447"/>
            <a:ext cx="4229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YouTube Data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7D0BF2-D77E-9A2A-F572-4D0B13E4452D}"/>
              </a:ext>
            </a:extLst>
          </p:cNvPr>
          <p:cNvSpPr txBox="1"/>
          <p:nvPr/>
        </p:nvSpPr>
        <p:spPr>
          <a:xfrm>
            <a:off x="5393505" y="2341732"/>
            <a:ext cx="3118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Reddit &amp; X/Twitter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31199E-4586-8158-B137-EB7DB68135A1}"/>
              </a:ext>
            </a:extLst>
          </p:cNvPr>
          <p:cNvSpPr txBox="1"/>
          <p:nvPr/>
        </p:nvSpPr>
        <p:spPr>
          <a:xfrm>
            <a:off x="140761" y="425430"/>
            <a:ext cx="4278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Measures public curiosity and demand patterns in both the U.S. &amp; India.</a:t>
            </a:r>
            <a:endParaRPr lang="en-IN" i="1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670C5B-E603-C8A0-22D8-FB19E5313CCE}"/>
              </a:ext>
            </a:extLst>
          </p:cNvPr>
          <p:cNvSpPr txBox="1"/>
          <p:nvPr/>
        </p:nvSpPr>
        <p:spPr>
          <a:xfrm>
            <a:off x="100301" y="2692947"/>
            <a:ext cx="3341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 algn="ctr">
              <a:buNone/>
            </a:pPr>
            <a:r>
              <a:rPr lang="en-US" i="1" dirty="0">
                <a:solidFill>
                  <a:schemeClr val="bg1"/>
                </a:solidFill>
              </a:rPr>
              <a:t>Pagination capped, scraping blocked,</a:t>
            </a:r>
          </a:p>
          <a:p>
            <a:pPr marL="114300" indent="0" algn="ctr">
              <a:buNone/>
            </a:pPr>
            <a:r>
              <a:rPr lang="en-US" i="1" dirty="0">
                <a:solidFill>
                  <a:schemeClr val="bg1"/>
                </a:solidFill>
              </a:rPr>
              <a:t> and no public sales data available.</a:t>
            </a:r>
            <a:endParaRPr lang="en-IN" i="1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E92319-D164-E9F4-FDF9-068B2D763C2F}"/>
              </a:ext>
            </a:extLst>
          </p:cNvPr>
          <p:cNvSpPr txBox="1"/>
          <p:nvPr/>
        </p:nvSpPr>
        <p:spPr>
          <a:xfrm>
            <a:off x="4580314" y="379331"/>
            <a:ext cx="4178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YouTube videos + comments provide insight into global engagement and sentiment</a:t>
            </a:r>
            <a:endParaRPr lang="en-IN" i="1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55F61F-3BE8-A4F4-A6F2-E5B52687DEE8}"/>
              </a:ext>
            </a:extLst>
          </p:cNvPr>
          <p:cNvSpPr txBox="1"/>
          <p:nvPr/>
        </p:nvSpPr>
        <p:spPr>
          <a:xfrm>
            <a:off x="5565490" y="2649509"/>
            <a:ext cx="3193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Large-scale text collection and trend timelines not feasible under free tiers.</a:t>
            </a:r>
            <a:endParaRPr lang="en-IN" i="1" dirty="0">
              <a:solidFill>
                <a:schemeClr val="bg1"/>
              </a:solidFill>
            </a:endParaRPr>
          </a:p>
        </p:txBody>
      </p:sp>
      <p:pic>
        <p:nvPicPr>
          <p:cNvPr id="4" name="Graphic 3" descr="Upward trend with solid fill">
            <a:extLst>
              <a:ext uri="{FF2B5EF4-FFF2-40B4-BE49-F238E27FC236}">
                <a16:creationId xmlns:a16="http://schemas.microsoft.com/office/drawing/2014/main" id="{937F427E-90BB-F203-89EE-6B338D94D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7283" y="1255912"/>
            <a:ext cx="841902" cy="857617"/>
          </a:xfrm>
          <a:prstGeom prst="rect">
            <a:avLst/>
          </a:prstGeom>
        </p:spPr>
      </p:pic>
      <p:pic>
        <p:nvPicPr>
          <p:cNvPr id="6" name="Graphic 5" descr="Play with solid fill">
            <a:extLst>
              <a:ext uri="{FF2B5EF4-FFF2-40B4-BE49-F238E27FC236}">
                <a16:creationId xmlns:a16="http://schemas.microsoft.com/office/drawing/2014/main" id="{B84E0BED-9914-28CA-FFFB-6B2D9A966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5070" y="1386462"/>
            <a:ext cx="550790" cy="550790"/>
          </a:xfrm>
          <a:prstGeom prst="rect">
            <a:avLst/>
          </a:prstGeom>
        </p:spPr>
      </p:pic>
      <p:pic>
        <p:nvPicPr>
          <p:cNvPr id="11" name="Graphic 10" descr="Shopping cart with solid fill">
            <a:extLst>
              <a:ext uri="{FF2B5EF4-FFF2-40B4-BE49-F238E27FC236}">
                <a16:creationId xmlns:a16="http://schemas.microsoft.com/office/drawing/2014/main" id="{5CDE3446-943C-FD39-BC48-88D1667538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97450" y="2331533"/>
            <a:ext cx="737642" cy="737642"/>
          </a:xfrm>
          <a:prstGeom prst="rect">
            <a:avLst/>
          </a:prstGeom>
        </p:spPr>
      </p:pic>
      <p:pic>
        <p:nvPicPr>
          <p:cNvPr id="13" name="Graphic 12" descr="Chat with solid fill">
            <a:extLst>
              <a:ext uri="{FF2B5EF4-FFF2-40B4-BE49-F238E27FC236}">
                <a16:creationId xmlns:a16="http://schemas.microsoft.com/office/drawing/2014/main" id="{32B53C72-724D-87D0-C2E1-5FE315927F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77691" y="2314270"/>
            <a:ext cx="744742" cy="744742"/>
          </a:xfrm>
          <a:prstGeom prst="rect">
            <a:avLst/>
          </a:prstGeom>
        </p:spPr>
      </p:pic>
      <p:pic>
        <p:nvPicPr>
          <p:cNvPr id="15" name="Graphic 14" descr="Warning with solid fill">
            <a:extLst>
              <a:ext uri="{FF2B5EF4-FFF2-40B4-BE49-F238E27FC236}">
                <a16:creationId xmlns:a16="http://schemas.microsoft.com/office/drawing/2014/main" id="{89682FFE-9614-69BD-1A87-5933198A33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3692" y="2331578"/>
            <a:ext cx="370871" cy="370871"/>
          </a:xfrm>
          <a:prstGeom prst="rect">
            <a:avLst/>
          </a:prstGeom>
        </p:spPr>
      </p:pic>
      <p:pic>
        <p:nvPicPr>
          <p:cNvPr id="16" name="Graphic 15" descr="Warning with solid fill">
            <a:extLst>
              <a:ext uri="{FF2B5EF4-FFF2-40B4-BE49-F238E27FC236}">
                <a16:creationId xmlns:a16="http://schemas.microsoft.com/office/drawing/2014/main" id="{0B6B0E07-3A18-B057-62B1-A8968053E3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7941" y="2315770"/>
            <a:ext cx="370871" cy="3708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24DE14D-35E8-5E48-99BD-4C7388818B8A}"/>
              </a:ext>
            </a:extLst>
          </p:cNvPr>
          <p:cNvSpPr txBox="1"/>
          <p:nvPr/>
        </p:nvSpPr>
        <p:spPr>
          <a:xfrm>
            <a:off x="370510" y="979685"/>
            <a:ext cx="31886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Why it matters:</a:t>
            </a: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Detects genuine spikes in attention</a:t>
            </a: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Enables U.S. → India diffusion lag measurement</a:t>
            </a: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Strong proxy for consumer interest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AE88D3-08B6-2B2E-AFF5-8EA7FACCFF3D}"/>
              </a:ext>
            </a:extLst>
          </p:cNvPr>
          <p:cNvSpPr txBox="1"/>
          <p:nvPr/>
        </p:nvSpPr>
        <p:spPr>
          <a:xfrm>
            <a:off x="5660614" y="928513"/>
            <a:ext cx="30981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Why it matters:</a:t>
            </a: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Comments reflect real consumer opinions</a:t>
            </a: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Shows global vs. local excitement around products</a:t>
            </a: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Supports sentiment comparison across markets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7442A2-1E5C-0142-66C8-086C2ECEEA8A}"/>
              </a:ext>
            </a:extLst>
          </p:cNvPr>
          <p:cNvSpPr txBox="1"/>
          <p:nvPr/>
        </p:nvSpPr>
        <p:spPr>
          <a:xfrm>
            <a:off x="293692" y="3211167"/>
            <a:ext cx="28232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Why it matters:</a:t>
            </a: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Cannot retrieve complete review history</a:t>
            </a: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Historical bestseller rank not accessible</a:t>
            </a: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No reliable sales estimation possible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179086-7E12-2668-70E6-1EAC7FD4A8D7}"/>
              </a:ext>
            </a:extLst>
          </p:cNvPr>
          <p:cNvSpPr txBox="1"/>
          <p:nvPr/>
        </p:nvSpPr>
        <p:spPr>
          <a:xfrm>
            <a:off x="5050062" y="3220806"/>
            <a:ext cx="3708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Why it matters:</a:t>
            </a: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No historical search / discussion timeline</a:t>
            </a: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Rate limits block bulk data collection</a:t>
            </a:r>
          </a:p>
          <a:p>
            <a:pPr marL="171450" indent="-171450">
              <a:buClr>
                <a:srgbClr val="F7EFE7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Only small manual samples possible</a:t>
            </a:r>
          </a:p>
        </p:txBody>
      </p:sp>
    </p:spTree>
    <p:extLst>
      <p:ext uri="{BB962C8B-B14F-4D97-AF65-F5344CB8AC3E}">
        <p14:creationId xmlns:p14="http://schemas.microsoft.com/office/powerpoint/2010/main" val="1127053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9E1D2-0514-E817-3BD3-5C0BCE7D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86372F41-6FA1-EF44-6D0E-154519C81D92}"/>
              </a:ext>
            </a:extLst>
          </p:cNvPr>
          <p:cNvSpPr/>
          <p:nvPr/>
        </p:nvSpPr>
        <p:spPr>
          <a:xfrm>
            <a:off x="3424843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FF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Single Corner Snipped 20">
            <a:extLst>
              <a:ext uri="{FF2B5EF4-FFF2-40B4-BE49-F238E27FC236}">
                <a16:creationId xmlns:a16="http://schemas.microsoft.com/office/drawing/2014/main" id="{079C0988-DA96-3058-8BE0-315889C6EC14}"/>
              </a:ext>
            </a:extLst>
          </p:cNvPr>
          <p:cNvSpPr/>
          <p:nvPr/>
        </p:nvSpPr>
        <p:spPr>
          <a:xfrm>
            <a:off x="1180407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C8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644DF6D3-D05E-751B-0E65-E53AA8ED2E91}"/>
              </a:ext>
            </a:extLst>
          </p:cNvPr>
          <p:cNvSpPr/>
          <p:nvPr/>
        </p:nvSpPr>
        <p:spPr>
          <a:xfrm>
            <a:off x="-1064029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9CF370-2559-154F-7EC1-43C62C96B0AF}"/>
              </a:ext>
            </a:extLst>
          </p:cNvPr>
          <p:cNvGrpSpPr/>
          <p:nvPr/>
        </p:nvGrpSpPr>
        <p:grpSpPr>
          <a:xfrm>
            <a:off x="169117" y="1112077"/>
            <a:ext cx="8738110" cy="584776"/>
            <a:chOff x="182882" y="2571749"/>
            <a:chExt cx="8738110" cy="58477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98DFAE-18A8-1E69-C59C-D19D4C0D98BA}"/>
                </a:ext>
              </a:extLst>
            </p:cNvPr>
            <p:cNvSpPr txBox="1"/>
            <p:nvPr/>
          </p:nvSpPr>
          <p:spPr>
            <a:xfrm>
              <a:off x="182882" y="2571750"/>
              <a:ext cx="20254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Product &amp; Keyword Selection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2781A16-7FC8-A2B3-BE13-04F1C1FD2AE7}"/>
                </a:ext>
              </a:extLst>
            </p:cNvPr>
            <p:cNvSpPr txBox="1"/>
            <p:nvPr/>
          </p:nvSpPr>
          <p:spPr>
            <a:xfrm>
              <a:off x="2420441" y="2571750"/>
              <a:ext cx="20254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Google Trends Analysis</a:t>
              </a:r>
              <a:endParaRPr lang="en-IN" sz="16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EC7BD5D-5F45-1402-20DD-7D8C727B01E2}"/>
                </a:ext>
              </a:extLst>
            </p:cNvPr>
            <p:cNvSpPr txBox="1"/>
            <p:nvPr/>
          </p:nvSpPr>
          <p:spPr>
            <a:xfrm>
              <a:off x="4657999" y="2571749"/>
              <a:ext cx="20254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YouTube Data Processing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859F85F-FAC9-C1AC-834B-03F3B14523A7}"/>
                </a:ext>
              </a:extLst>
            </p:cNvPr>
            <p:cNvSpPr txBox="1"/>
            <p:nvPr/>
          </p:nvSpPr>
          <p:spPr>
            <a:xfrm>
              <a:off x="6895557" y="2571749"/>
              <a:ext cx="20254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Trend Diffusion </a:t>
              </a:r>
              <a:r>
                <a:rPr lang="en-IN" sz="1600" b="1" dirty="0" err="1">
                  <a:solidFill>
                    <a:schemeClr val="tx1"/>
                  </a:solidFill>
                </a:rPr>
                <a:t>Modeling</a:t>
              </a:r>
              <a:endParaRPr lang="en-IN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1B59C1-77C0-CDA6-EF83-B403B9FA8F8D}"/>
              </a:ext>
            </a:extLst>
          </p:cNvPr>
          <p:cNvGrpSpPr/>
          <p:nvPr/>
        </p:nvGrpSpPr>
        <p:grpSpPr>
          <a:xfrm>
            <a:off x="169117" y="1783226"/>
            <a:ext cx="8738110" cy="2492990"/>
            <a:chOff x="182882" y="3306040"/>
            <a:chExt cx="8738110" cy="249299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C2D5B2-41E8-BEF9-22F0-7C294EDF4F65}"/>
                </a:ext>
              </a:extLst>
            </p:cNvPr>
            <p:cNvSpPr txBox="1"/>
            <p:nvPr/>
          </p:nvSpPr>
          <p:spPr>
            <a:xfrm>
              <a:off x="182882" y="3306041"/>
              <a:ext cx="2025435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</a:rPr>
                <a:t>Identify trending products &amp; choose consistent search keywords</a:t>
              </a:r>
            </a:p>
            <a:p>
              <a:pPr algn="ctr"/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</a:rPr>
                <a:t>Mapped viral items to U.S. &amp; India Google Trends keywords. </a:t>
              </a:r>
            </a:p>
            <a:p>
              <a:pPr algn="ctr"/>
              <a:endParaRPr lang="en-US" sz="1200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</a:rPr>
                <a:t>Ensures clean, comparable trend signals.</a:t>
              </a:r>
              <a:endParaRPr lang="en-IN" sz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17632F-6E64-46ED-1F84-2C63FA7916AF}"/>
                </a:ext>
              </a:extLst>
            </p:cNvPr>
            <p:cNvSpPr txBox="1"/>
            <p:nvPr/>
          </p:nvSpPr>
          <p:spPr>
            <a:xfrm>
              <a:off x="2420441" y="3306041"/>
              <a:ext cx="2025435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Extract weekly search interest from both countries</a:t>
              </a:r>
            </a:p>
            <a:p>
              <a:pPr algn="ctr"/>
              <a:endParaRPr lang="en-US" sz="12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Measured correlation and identified U.S. → India peak differences.</a:t>
              </a:r>
            </a:p>
            <a:p>
              <a:pPr algn="ctr"/>
              <a:endParaRPr lang="en-US" sz="12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Used to estimate diffusion lag.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4630DA-F882-5A0E-060C-8512C875AC4A}"/>
                </a:ext>
              </a:extLst>
            </p:cNvPr>
            <p:cNvSpPr txBox="1"/>
            <p:nvPr/>
          </p:nvSpPr>
          <p:spPr>
            <a:xfrm>
              <a:off x="4657999" y="3306040"/>
              <a:ext cx="2025435" cy="24929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Scrape video views, timestamps, and user comments</a:t>
              </a:r>
            </a:p>
            <a:p>
              <a:pPr algn="ctr"/>
              <a:endParaRPr lang="en-US" sz="12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Spikes in views often reflect real-world demand interest, Acts as a proxy for purchase intention / hype cycle</a:t>
              </a:r>
            </a:p>
            <a:p>
              <a:pPr algn="ctr"/>
              <a:endParaRPr lang="en-US" sz="12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Understanding consumer reactions</a:t>
              </a:r>
            </a:p>
            <a:p>
              <a:pPr algn="ctr"/>
              <a:endParaRPr lang="en-IN" sz="1200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D85C92-C55E-B917-FB58-D5AD9B8ED81A}"/>
                </a:ext>
              </a:extLst>
            </p:cNvPr>
            <p:cNvSpPr txBox="1"/>
            <p:nvPr/>
          </p:nvSpPr>
          <p:spPr>
            <a:xfrm>
              <a:off x="6895557" y="3306040"/>
              <a:ext cx="2025435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Compute: </a:t>
              </a:r>
            </a:p>
            <a:p>
              <a:pPr algn="ctr"/>
              <a:r>
                <a:rPr lang="en-US" sz="1200" dirty="0"/>
                <a:t>Correlation between U.S. &amp; India attention</a:t>
              </a:r>
            </a:p>
            <a:p>
              <a:pPr algn="ctr"/>
              <a:endParaRPr lang="en-US" sz="1200" dirty="0"/>
            </a:p>
            <a:p>
              <a:pPr algn="ctr"/>
              <a:r>
                <a:rPr lang="en-US" sz="1200" dirty="0"/>
                <a:t>Diffusion Lag: difference in peak interest timing</a:t>
              </a:r>
            </a:p>
            <a:p>
              <a:pPr algn="ctr"/>
              <a:endParaRPr lang="en-US" sz="1200" dirty="0"/>
            </a:p>
            <a:p>
              <a:pPr algn="ctr"/>
              <a:r>
                <a:rPr lang="en-US" sz="1200" dirty="0"/>
                <a:t>Category differences: beauty vs lifestyle vs toys</a:t>
              </a:r>
            </a:p>
            <a:p>
              <a:pPr algn="ctr"/>
              <a:endParaRPr lang="en-US" sz="1200" dirty="0"/>
            </a:p>
            <a:p>
              <a:pPr algn="ctr"/>
              <a:r>
                <a:rPr lang="en-US" sz="1200" dirty="0"/>
                <a:t>Sentiment shifts: whether reactions differ by country</a:t>
              </a:r>
              <a:endParaRPr lang="en-IN" sz="1200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1AF3F46F-49DA-D37C-FBF0-D7B9CA6D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891" y="0"/>
            <a:ext cx="2955324" cy="993775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404486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7762B-0CBE-6221-5D45-A7FBCD2D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BC8639A-C808-A062-B9FD-1544EA043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901" y="259602"/>
            <a:ext cx="5136232" cy="23121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D58B3A5-2A5E-0A4A-8154-DAB7AAE6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36" y="1928988"/>
            <a:ext cx="4067075" cy="23121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F627066-6CF5-5BC0-536C-A14111611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49" y="334113"/>
            <a:ext cx="4067075" cy="993775"/>
          </a:xfrm>
        </p:spPr>
        <p:txBody>
          <a:bodyPr/>
          <a:lstStyle/>
          <a:p>
            <a:r>
              <a:rPr lang="en-US" dirty="0"/>
              <a:t>Product &amp; Keyword </a:t>
            </a:r>
            <a:br>
              <a:rPr lang="en-US" dirty="0"/>
            </a:br>
            <a:r>
              <a:rPr lang="en-US" dirty="0"/>
              <a:t>Selection</a:t>
            </a:r>
          </a:p>
        </p:txBody>
      </p:sp>
    </p:spTree>
    <p:extLst>
      <p:ext uri="{BB962C8B-B14F-4D97-AF65-F5344CB8AC3E}">
        <p14:creationId xmlns:p14="http://schemas.microsoft.com/office/powerpoint/2010/main" val="3848303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820E2-E301-3308-506B-6B90DA667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1F2F5A4-F5A7-86B6-C6A5-65EA6FCE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49" y="334113"/>
            <a:ext cx="5804736" cy="993775"/>
          </a:xfrm>
        </p:spPr>
        <p:txBody>
          <a:bodyPr/>
          <a:lstStyle/>
          <a:p>
            <a:r>
              <a:rPr lang="en-US" dirty="0"/>
              <a:t>Google Trends Analysis</a:t>
            </a:r>
          </a:p>
        </p:txBody>
      </p:sp>
      <p:pic>
        <p:nvPicPr>
          <p:cNvPr id="3" name="Picture 2" descr="A graph of a graph showing the number of trends&#10;&#10;AI-generated content may be incorrect.">
            <a:extLst>
              <a:ext uri="{FF2B5EF4-FFF2-40B4-BE49-F238E27FC236}">
                <a16:creationId xmlns:a16="http://schemas.microsoft.com/office/drawing/2014/main" id="{B6D85936-B766-9DC2-EBAA-4AE522E66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9" y="1327888"/>
            <a:ext cx="6228997" cy="308539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B47F28F-A5B6-47A1-A700-D67EE4ABFE78}"/>
              </a:ext>
            </a:extLst>
          </p:cNvPr>
          <p:cNvGrpSpPr/>
          <p:nvPr/>
        </p:nvGrpSpPr>
        <p:grpSpPr>
          <a:xfrm>
            <a:off x="6600305" y="1895302"/>
            <a:ext cx="2399264" cy="993776"/>
            <a:chOff x="6455874" y="975873"/>
            <a:chExt cx="2610201" cy="225274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FFD56AA-80FD-F534-0319-34EE73CB34C6}"/>
                </a:ext>
              </a:extLst>
            </p:cNvPr>
            <p:cNvSpPr/>
            <p:nvPr/>
          </p:nvSpPr>
          <p:spPr>
            <a:xfrm>
              <a:off x="6455878" y="975873"/>
              <a:ext cx="2610197" cy="2252749"/>
            </a:xfrm>
            <a:prstGeom prst="roundRect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79A933-7228-EA22-7DF7-BEC5D9BC1DE4}"/>
                </a:ext>
              </a:extLst>
            </p:cNvPr>
            <p:cNvSpPr txBox="1"/>
            <p:nvPr/>
          </p:nvSpPr>
          <p:spPr>
            <a:xfrm>
              <a:off x="6455874" y="1209509"/>
              <a:ext cx="2610197" cy="1674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Initial trend line gives us the idea about what time frame to focus on.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8005F30-71E6-BF57-2540-3B8BE968EF7C}"/>
              </a:ext>
            </a:extLst>
          </p:cNvPr>
          <p:cNvGrpSpPr/>
          <p:nvPr/>
        </p:nvGrpSpPr>
        <p:grpSpPr>
          <a:xfrm>
            <a:off x="6600305" y="3062400"/>
            <a:ext cx="2399264" cy="1101296"/>
            <a:chOff x="6455874" y="975873"/>
            <a:chExt cx="2610201" cy="225274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2F3C64E-35B3-6A80-5610-34C6348F6D9D}"/>
                </a:ext>
              </a:extLst>
            </p:cNvPr>
            <p:cNvSpPr/>
            <p:nvPr/>
          </p:nvSpPr>
          <p:spPr>
            <a:xfrm>
              <a:off x="6455878" y="975873"/>
              <a:ext cx="2610197" cy="2252749"/>
            </a:xfrm>
            <a:prstGeom prst="roundRect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5E2EDD-107A-FB3D-EB82-009E3411F782}"/>
                </a:ext>
              </a:extLst>
            </p:cNvPr>
            <p:cNvSpPr txBox="1"/>
            <p:nvPr/>
          </p:nvSpPr>
          <p:spPr>
            <a:xfrm>
              <a:off x="6455874" y="1209509"/>
              <a:ext cx="2610197" cy="1951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A clear gap in interest can be seen between the two countries. This can answer RQ1 &amp; RQ2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7FE3F8-EE1D-3009-6296-88423B1F97D6}"/>
              </a:ext>
            </a:extLst>
          </p:cNvPr>
          <p:cNvGrpSpPr/>
          <p:nvPr/>
        </p:nvGrpSpPr>
        <p:grpSpPr>
          <a:xfrm>
            <a:off x="6600305" y="571704"/>
            <a:ext cx="2399264" cy="1101296"/>
            <a:chOff x="6455874" y="975873"/>
            <a:chExt cx="2610201" cy="225274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E7C4747-2B89-F741-6B52-1FAC964E622C}"/>
                </a:ext>
              </a:extLst>
            </p:cNvPr>
            <p:cNvSpPr/>
            <p:nvPr/>
          </p:nvSpPr>
          <p:spPr>
            <a:xfrm>
              <a:off x="6455878" y="975873"/>
              <a:ext cx="2610197" cy="2252749"/>
            </a:xfrm>
            <a:prstGeom prst="roundRect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069A2C-DFAB-719C-B9E8-7F5D5A89EF72}"/>
                </a:ext>
              </a:extLst>
            </p:cNvPr>
            <p:cNvSpPr txBox="1"/>
            <p:nvPr/>
          </p:nvSpPr>
          <p:spPr>
            <a:xfrm>
              <a:off x="6455874" y="1209509"/>
              <a:ext cx="2610197" cy="1951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Stanley Bottle is the product in focus and later will be extended to other products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9033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187C5-7EAA-1106-7727-961336F8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2F09E09C-53E1-21AB-C874-039826B300FB}"/>
              </a:ext>
            </a:extLst>
          </p:cNvPr>
          <p:cNvSpPr/>
          <p:nvPr/>
        </p:nvSpPr>
        <p:spPr>
          <a:xfrm>
            <a:off x="3424843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FF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Single Corner Snipped 20">
            <a:extLst>
              <a:ext uri="{FF2B5EF4-FFF2-40B4-BE49-F238E27FC236}">
                <a16:creationId xmlns:a16="http://schemas.microsoft.com/office/drawing/2014/main" id="{A15FD3DB-9B1F-0860-0F45-BBBE6A663044}"/>
              </a:ext>
            </a:extLst>
          </p:cNvPr>
          <p:cNvSpPr/>
          <p:nvPr/>
        </p:nvSpPr>
        <p:spPr>
          <a:xfrm>
            <a:off x="1180407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C8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A6086C3D-0356-B298-E125-741316822774}"/>
              </a:ext>
            </a:extLst>
          </p:cNvPr>
          <p:cNvSpPr/>
          <p:nvPr/>
        </p:nvSpPr>
        <p:spPr>
          <a:xfrm>
            <a:off x="-1064029" y="0"/>
            <a:ext cx="3391593" cy="4422370"/>
          </a:xfrm>
          <a:prstGeom prst="snip1Rect">
            <a:avLst>
              <a:gd name="adj" fmla="val 33453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B1BFA70-F89F-BD27-181E-215263E7E375}"/>
              </a:ext>
            </a:extLst>
          </p:cNvPr>
          <p:cNvGrpSpPr/>
          <p:nvPr/>
        </p:nvGrpSpPr>
        <p:grpSpPr>
          <a:xfrm>
            <a:off x="169117" y="1112077"/>
            <a:ext cx="8738110" cy="830998"/>
            <a:chOff x="182882" y="2571749"/>
            <a:chExt cx="8738110" cy="83099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5775FE-C711-4CDF-27CB-C2002F20CC09}"/>
                </a:ext>
              </a:extLst>
            </p:cNvPr>
            <p:cNvSpPr txBox="1"/>
            <p:nvPr/>
          </p:nvSpPr>
          <p:spPr>
            <a:xfrm>
              <a:off x="182882" y="2571750"/>
              <a:ext cx="2025435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Trends Data to time bound YouTube search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EACD5AE-441D-6F4C-04D9-5ECBB688B096}"/>
                </a:ext>
              </a:extLst>
            </p:cNvPr>
            <p:cNvSpPr txBox="1"/>
            <p:nvPr/>
          </p:nvSpPr>
          <p:spPr>
            <a:xfrm>
              <a:off x="2420441" y="2571750"/>
              <a:ext cx="20254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Metadata and comment data</a:t>
              </a:r>
              <a:endParaRPr lang="en-IN" sz="16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CF937A-DBAD-4F78-88BA-7D18E116EA00}"/>
                </a:ext>
              </a:extLst>
            </p:cNvPr>
            <p:cNvSpPr txBox="1"/>
            <p:nvPr/>
          </p:nvSpPr>
          <p:spPr>
            <a:xfrm>
              <a:off x="4657999" y="2571749"/>
              <a:ext cx="2025435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/>
                  </a:solidFill>
                </a:rPr>
                <a:t>YouTube Data As Proxy for sales and attention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17F149-1DA6-0638-2498-B2AD57F7B0BC}"/>
                </a:ext>
              </a:extLst>
            </p:cNvPr>
            <p:cNvSpPr txBox="1"/>
            <p:nvPr/>
          </p:nvSpPr>
          <p:spPr>
            <a:xfrm>
              <a:off x="6895557" y="2571749"/>
              <a:ext cx="20254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tx1"/>
                  </a:solidFill>
                </a:rPr>
                <a:t>Sentiment towards the product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DD7EBB-1695-718B-81A2-A18E0D036BF9}"/>
              </a:ext>
            </a:extLst>
          </p:cNvPr>
          <p:cNvGrpSpPr/>
          <p:nvPr/>
        </p:nvGrpSpPr>
        <p:grpSpPr>
          <a:xfrm>
            <a:off x="162240" y="1919981"/>
            <a:ext cx="8744987" cy="2123659"/>
            <a:chOff x="176005" y="3306040"/>
            <a:chExt cx="8744987" cy="212365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D7AEC-B6FF-DF30-1F96-831DA7F08D25}"/>
                </a:ext>
              </a:extLst>
            </p:cNvPr>
            <p:cNvSpPr txBox="1"/>
            <p:nvPr/>
          </p:nvSpPr>
          <p:spPr>
            <a:xfrm>
              <a:off x="176005" y="3465889"/>
              <a:ext cx="2025435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>
                      <a:lumMod val="95000"/>
                    </a:schemeClr>
                  </a:solidFill>
                </a:rPr>
                <a:t>To avoid exhausting the API quota, google trends data was used to time bound the search for video.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F1CDCF-AB82-3F1D-CDFE-125F086E78C2}"/>
                </a:ext>
              </a:extLst>
            </p:cNvPr>
            <p:cNvSpPr txBox="1"/>
            <p:nvPr/>
          </p:nvSpPr>
          <p:spPr>
            <a:xfrm>
              <a:off x="2420441" y="3306041"/>
              <a:ext cx="2025435" cy="21236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Top 250 videos from each quarter within the given time frame along with max of 2000 comments were scraped.</a:t>
              </a:r>
            </a:p>
            <a:p>
              <a:pPr algn="ctr"/>
              <a:endParaRPr lang="en-IN" sz="1200" dirty="0">
                <a:solidFill>
                  <a:schemeClr val="bg1"/>
                </a:solidFill>
              </a:endParaRPr>
            </a:p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Country of origin for video was determined based on channel country and other features such as language, channel name etc.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30CB89-A5B2-BB01-2ED2-75056FF673C7}"/>
                </a:ext>
              </a:extLst>
            </p:cNvPr>
            <p:cNvSpPr txBox="1"/>
            <p:nvPr/>
          </p:nvSpPr>
          <p:spPr>
            <a:xfrm>
              <a:off x="4657999" y="3306040"/>
              <a:ext cx="2025435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Video date published is being used as the proxy for attention assuming video is made because there is a demand.</a:t>
              </a:r>
            </a:p>
            <a:p>
              <a:pPr algn="ctr"/>
              <a:endParaRPr lang="en-US" sz="1200" dirty="0">
                <a:solidFill>
                  <a:schemeClr val="bg1"/>
                </a:solidFill>
              </a:endParaRPr>
            </a:p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Comment dates were analysed to extract the demand and sales proxy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DF117F-80B0-67B9-7383-A314EC0A83E9}"/>
                </a:ext>
              </a:extLst>
            </p:cNvPr>
            <p:cNvSpPr txBox="1"/>
            <p:nvPr/>
          </p:nvSpPr>
          <p:spPr>
            <a:xfrm>
              <a:off x="6895557" y="3306040"/>
              <a:ext cx="2025435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Comments are being </a:t>
              </a:r>
              <a:r>
                <a:rPr lang="en-US" sz="1200" dirty="0" err="1"/>
                <a:t>analysed</a:t>
              </a:r>
              <a:r>
                <a:rPr lang="en-US" sz="1200" dirty="0"/>
                <a:t> to understand how people are reacting to the product in both the countries.</a:t>
              </a:r>
              <a:endParaRPr lang="en-IN" sz="1200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EEDD1597-3372-C93A-8C52-66E96720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1989" y="14675"/>
            <a:ext cx="3022011" cy="993775"/>
          </a:xfrm>
        </p:spPr>
        <p:txBody>
          <a:bodyPr/>
          <a:lstStyle/>
          <a:p>
            <a:pPr algn="r"/>
            <a:r>
              <a:rPr lang="en-US" dirty="0"/>
              <a:t>YouTube 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2168233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D85B0-7B3E-57B8-39B4-BD421D8A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9B36B97-791F-A290-964E-3BB9F4C1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49" y="66694"/>
            <a:ext cx="5569000" cy="993775"/>
          </a:xfrm>
        </p:spPr>
        <p:txBody>
          <a:bodyPr/>
          <a:lstStyle/>
          <a:p>
            <a:r>
              <a:rPr lang="en-US" dirty="0"/>
              <a:t>YouTube Data Processing</a:t>
            </a:r>
          </a:p>
        </p:txBody>
      </p:sp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3C9D15AA-966E-55A4-533B-73A070F85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86" y="891806"/>
            <a:ext cx="6873811" cy="351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38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8F3DB-0423-0EE3-0116-7A33B1A7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C4D59865-72C3-F2F4-6925-322B0088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74" y="101356"/>
            <a:ext cx="5696671" cy="993775"/>
          </a:xfrm>
        </p:spPr>
        <p:txBody>
          <a:bodyPr/>
          <a:lstStyle/>
          <a:p>
            <a:r>
              <a:rPr lang="en-US" dirty="0"/>
              <a:t>Trend Diffusion Modeling</a:t>
            </a:r>
          </a:p>
        </p:txBody>
      </p:sp>
      <p:pic>
        <p:nvPicPr>
          <p:cNvPr id="3" name="Picture 2" descr="A chart with different colors&#10;&#10;AI-generated content may be incorrect.">
            <a:extLst>
              <a:ext uri="{FF2B5EF4-FFF2-40B4-BE49-F238E27FC236}">
                <a16:creationId xmlns:a16="http://schemas.microsoft.com/office/drawing/2014/main" id="{48B4285B-E584-0304-0325-9C86F17C7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4" y="1271981"/>
            <a:ext cx="6262289" cy="259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176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F5E1-5099-52F8-4269-6AB09002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to be done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8A6176-F184-7945-5F21-2E8B9076A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644641"/>
          </a:xfrm>
        </p:spPr>
        <p:txBody>
          <a:bodyPr>
            <a:normAutofit fontScale="77500" lnSpcReduction="20000"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How will your data and methods help answer your research questions?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Identify potential challenges and how you plan to address them.</a:t>
            </a:r>
          </a:p>
        </p:txBody>
      </p:sp>
    </p:spTree>
    <p:extLst>
      <p:ext uri="{BB962C8B-B14F-4D97-AF65-F5344CB8AC3E}">
        <p14:creationId xmlns:p14="http://schemas.microsoft.com/office/powerpoint/2010/main" val="1452919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E22E-DB05-F4ED-C40E-D83B6BE71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3618C-3407-5A52-4267-B0297E570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428"/>
            <a:ext cx="7886700" cy="306518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200" dirty="0" err="1"/>
              <a:t>Gerbaudo</a:t>
            </a:r>
            <a:r>
              <a:rPr lang="en-IN" sz="1200" dirty="0"/>
              <a:t>, Paolo. 2024. </a:t>
            </a:r>
            <a:r>
              <a:rPr lang="en-IN" sz="1200" i="1" dirty="0"/>
              <a:t>Social Media Clusters: TikTok and the Algorithmic Transformation of Social Media.</a:t>
            </a:r>
            <a:r>
              <a:rPr lang="en-IN" sz="1200" dirty="0"/>
              <a:t> SAGE Publications.</a:t>
            </a:r>
            <a:br>
              <a:rPr lang="en-IN" sz="1200" dirty="0"/>
            </a:br>
            <a:r>
              <a:rPr lang="en-IN" sz="1200" dirty="0"/>
              <a:t>(Article DOI: </a:t>
            </a:r>
            <a:r>
              <a:rPr lang="en-IN" sz="1200" dirty="0">
                <a:hlinkClick r:id="rId2"/>
              </a:rPr>
              <a:t>https://doi.org/10.1177/14614448241304106</a:t>
            </a:r>
            <a:r>
              <a:rPr lang="en-IN" sz="1200" dirty="0"/>
              <a:t>)</a:t>
            </a:r>
          </a:p>
          <a:p>
            <a:pPr marL="114300" indent="0">
              <a:buNone/>
            </a:pPr>
            <a:r>
              <a:rPr lang="en-US" sz="1200" dirty="0"/>
              <a:t>Sun, Muyao. 2024. </a:t>
            </a:r>
            <a:r>
              <a:rPr lang="en-US" sz="1200" i="1" dirty="0"/>
              <a:t>Cultural Diffusion and Global Flow on TikTok: Short-Form Video and Cross-Border Digital Culture.</a:t>
            </a:r>
            <a:r>
              <a:rPr lang="en-US" sz="1200" dirty="0"/>
              <a:t> Advances in Social Sciences Research Journal.</a:t>
            </a:r>
          </a:p>
          <a:p>
            <a:pPr marL="114300" indent="0">
              <a:buNone/>
            </a:pPr>
            <a:r>
              <a:rPr lang="en-IN" sz="1200" dirty="0" err="1"/>
              <a:t>Theodorakopoulos,et</a:t>
            </a:r>
            <a:r>
              <a:rPr lang="en-IN" sz="1200" dirty="0"/>
              <a:t> al 2025. </a:t>
            </a:r>
            <a:r>
              <a:rPr lang="en-IN" sz="1200" i="1" dirty="0"/>
              <a:t>Interactive Viral Marketing Through Big Data Analytics, Influencer Networks, AI Integration, and Ethical Dimensions.</a:t>
            </a:r>
            <a:r>
              <a:rPr lang="en-IN" sz="1200" dirty="0"/>
              <a:t> Journal of Theoretical and Applied Electronic Commerce Research.</a:t>
            </a:r>
            <a:br>
              <a:rPr lang="en-IN" sz="1200" dirty="0"/>
            </a:br>
            <a:r>
              <a:rPr lang="en-IN" sz="1200" dirty="0"/>
              <a:t>(</a:t>
            </a:r>
            <a:r>
              <a:rPr lang="en-IN" sz="1200" dirty="0">
                <a:hlinkClick r:id="rId3"/>
              </a:rPr>
              <a:t>https://www.mdpi.com/0718-1876/20/2/115</a:t>
            </a:r>
            <a:r>
              <a:rPr lang="en-IN" sz="1200" dirty="0"/>
              <a:t>)</a:t>
            </a:r>
          </a:p>
          <a:p>
            <a:pPr marL="114300" indent="0">
              <a:buNone/>
            </a:pPr>
            <a:r>
              <a:rPr lang="en-US" sz="1200" dirty="0"/>
              <a:t>Choi, </a:t>
            </a:r>
            <a:r>
              <a:rPr lang="en-US" sz="1200" dirty="0" err="1"/>
              <a:t>Hyunyoung</a:t>
            </a:r>
            <a:r>
              <a:rPr lang="en-US" sz="1200" dirty="0"/>
              <a:t>, and Hal R. Varian. 2012. </a:t>
            </a:r>
            <a:r>
              <a:rPr lang="en-US" sz="1200" i="1" dirty="0"/>
              <a:t>Predicting the Present with Google Trends.</a:t>
            </a:r>
            <a:r>
              <a:rPr lang="en-US" sz="1200" dirty="0"/>
              <a:t> Economic Record 88(s1): 2–9.</a:t>
            </a:r>
          </a:p>
          <a:p>
            <a:pPr marL="114300" indent="0">
              <a:buNone/>
            </a:pPr>
            <a:r>
              <a:rPr lang="en-US" sz="1200" dirty="0"/>
              <a:t>Goel, Sharad, Jake M. Hofman, Sébastien Lahaie, David M. Pennock, and Duncan J. Watts. 2010. </a:t>
            </a:r>
            <a:r>
              <a:rPr lang="en-US" sz="1200" i="1" dirty="0"/>
              <a:t>Predicting Consumer Behavior with Web Search.</a:t>
            </a:r>
            <a:r>
              <a:rPr lang="en-US" sz="1200" dirty="0"/>
              <a:t> Proceedings of the National Academy of Sciences, 107(41): 17486–17490.</a:t>
            </a:r>
            <a:endParaRPr lang="en-IN" sz="1200" dirty="0"/>
          </a:p>
          <a:p>
            <a:pPr marL="11430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86010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383817" y="0"/>
            <a:ext cx="950913" cy="2767013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" descr="trident.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933" y="1571742"/>
            <a:ext cx="634683" cy="80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3CEB50-89CD-473C-87EF-B86B19FE5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198" y="1734348"/>
            <a:ext cx="3116238" cy="206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7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a504cd8-0e2d-49cd-b0df-da45d3cad8b1">
      <UserInfo>
        <DisplayName>Millunchick, Joanna M.</DisplayName>
        <AccountId>12</AccountId>
        <AccountType/>
      </UserInfo>
      <UserInfo>
        <DisplayName>Crandall, David</DisplayName>
        <AccountId>13</AccountId>
        <AccountType/>
      </UserInfo>
    </SharedWithUsers>
    <TaxCatchAll xmlns="aa504cd8-0e2d-49cd-b0df-da45d3cad8b1" xsi:nil="true"/>
    <lcf76f155ced4ddcb4097134ff3c332f xmlns="39ef0995-f340-485f-a44a-0c60afb7c13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FB1796C7A54349A67930A9E98FFA33" ma:contentTypeVersion="16" ma:contentTypeDescription="Create a new document." ma:contentTypeScope="" ma:versionID="7b07a8d0a7005605d4063c8671497017">
  <xsd:schema xmlns:xsd="http://www.w3.org/2001/XMLSchema" xmlns:xs="http://www.w3.org/2001/XMLSchema" xmlns:p="http://schemas.microsoft.com/office/2006/metadata/properties" xmlns:ns2="aa504cd8-0e2d-49cd-b0df-da45d3cad8b1" xmlns:ns3="39ef0995-f340-485f-a44a-0c60afb7c13e" targetNamespace="http://schemas.microsoft.com/office/2006/metadata/properties" ma:root="true" ma:fieldsID="1eb1a1c4d677f70991a3bdad3ef87bbd" ns2:_="" ns3:_="">
    <xsd:import namespace="aa504cd8-0e2d-49cd-b0df-da45d3cad8b1"/>
    <xsd:import namespace="39ef0995-f340-485f-a44a-0c60afb7c13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504cd8-0e2d-49cd-b0df-da45d3cad8b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bf4c67f-0b05-4e1f-bf02-1d376edf159a}" ma:internalName="TaxCatchAll" ma:showField="CatchAllData" ma:web="aa504cd8-0e2d-49cd-b0df-da45d3cad8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ef0995-f340-485f-a44a-0c60afb7c1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eec0a79-46cb-4568-9b1b-2d720bd320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66914E-EA9C-48B1-97BF-697DBC072558}">
  <ds:schemaRefs>
    <ds:schemaRef ds:uri="http://purl.org/dc/elements/1.1/"/>
    <ds:schemaRef ds:uri="aa504cd8-0e2d-49cd-b0df-da45d3cad8b1"/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39ef0995-f340-485f-a44a-0c60afb7c13e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19C1731-9892-4EF8-B87F-833FAB3105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504cd8-0e2d-49cd-b0df-da45d3cad8b1"/>
    <ds:schemaRef ds:uri="39ef0995-f340-485f-a44a-0c60afb7c1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6F16A18-6088-4FA6-A768-A62EC15DB4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11725</TotalTime>
  <Words>1080</Words>
  <Application>Microsoft Office PowerPoint</Application>
  <PresentationFormat>On-screen Show (16:9)</PresentationFormat>
  <Paragraphs>124</Paragraphs>
  <Slides>20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Introduction</vt:lpstr>
      <vt:lpstr>PowerPoint Presentation</vt:lpstr>
      <vt:lpstr>Why This Matters</vt:lpstr>
      <vt:lpstr>PowerPoint Presentation</vt:lpstr>
      <vt:lpstr>What we already know?</vt:lpstr>
      <vt:lpstr>Literature Review</vt:lpstr>
      <vt:lpstr>Research Questions &amp; Objectives</vt:lpstr>
      <vt:lpstr>Research Questions</vt:lpstr>
      <vt:lpstr>Data Sources &amp; Platform Limitations</vt:lpstr>
      <vt:lpstr>PowerPoint Presentation</vt:lpstr>
      <vt:lpstr>Methodology</vt:lpstr>
      <vt:lpstr>Product &amp; Keyword  Selection</vt:lpstr>
      <vt:lpstr>Google Trends Analysis</vt:lpstr>
      <vt:lpstr>YouTube Data Processing</vt:lpstr>
      <vt:lpstr>YouTube Data Processing</vt:lpstr>
      <vt:lpstr>Trend Diffusion Modeling</vt:lpstr>
      <vt:lpstr>Work to be done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Gupta, Harsh</cp:lastModifiedBy>
  <cp:revision>43</cp:revision>
  <dcterms:created xsi:type="dcterms:W3CDTF">2017-09-14T14:31:07Z</dcterms:created>
  <dcterms:modified xsi:type="dcterms:W3CDTF">2025-12-01T07:47:25Z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0x010100E2BCDC323E6250468F17910CD8C76DDE</vt:lpwstr>
  </property>
  <property fmtid="{D5CDD505-2E9C-101B-9397-08002B2CF9AE}" pid="3" name="MediaServiceImageTags">
    <vt:lpwstr/>
  </property>
</Properties>
</file>